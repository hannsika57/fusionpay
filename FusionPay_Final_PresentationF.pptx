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x="18288000" cy="10287000"/>
  <p:notesSz cx="6858000" cy="9144000"/>
  <p:embeddedFontLst>
    <p:embeddedFont>
      <p:font typeface="Aptos Bold" charset="1" panose="020B0004020202020204"/>
      <p:regular r:id="rId26"/>
    </p:embeddedFont>
    <p:embeddedFont>
      <p:font typeface="Aptos" charset="1" panose="020B0004020202020204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0.png" Type="http://schemas.openxmlformats.org/officeDocument/2006/relationships/image"/><Relationship Id="rId11" Target="../media/image21.svg" Type="http://schemas.openxmlformats.org/officeDocument/2006/relationships/image"/><Relationship Id="rId12" Target="../media/image22.png" Type="http://schemas.openxmlformats.org/officeDocument/2006/relationships/image"/><Relationship Id="rId13" Target="../media/image23.svg" Type="http://schemas.openxmlformats.org/officeDocument/2006/relationships/image"/><Relationship Id="rId14" Target="../media/image24.png" Type="http://schemas.openxmlformats.org/officeDocument/2006/relationships/image"/><Relationship Id="rId15" Target="../media/image25.svg" Type="http://schemas.openxmlformats.org/officeDocument/2006/relationships/image"/><Relationship Id="rId16" Target="../media/image26.png" Type="http://schemas.openxmlformats.org/officeDocument/2006/relationships/image"/><Relationship Id="rId17" Target="../media/image27.svg" Type="http://schemas.openxmlformats.org/officeDocument/2006/relationships/image"/><Relationship Id="rId18" Target="../media/image11.png" Type="http://schemas.openxmlformats.org/officeDocument/2006/relationships/image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Relationship Id="rId5" Target="../media/image15.svg" Type="http://schemas.openxmlformats.org/officeDocument/2006/relationships/image"/><Relationship Id="rId6" Target="../media/image16.png" Type="http://schemas.openxmlformats.org/officeDocument/2006/relationships/image"/><Relationship Id="rId7" Target="../media/image17.svg" Type="http://schemas.openxmlformats.org/officeDocument/2006/relationships/image"/><Relationship Id="rId8" Target="../media/image18.png" Type="http://schemas.openxmlformats.org/officeDocument/2006/relationships/image"/><Relationship Id="rId9" Target="../media/image19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Relationship Id="rId4" Target="../media/image30.png" Type="http://schemas.openxmlformats.org/officeDocument/2006/relationships/image"/><Relationship Id="rId5" Target="../media/image31.svg" Type="http://schemas.openxmlformats.org/officeDocument/2006/relationships/image"/><Relationship Id="rId6" Target="../media/image32.png" Type="http://schemas.openxmlformats.org/officeDocument/2006/relationships/image"/><Relationship Id="rId7" Target="../media/image33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4.png" Type="http://schemas.openxmlformats.org/officeDocument/2006/relationships/image"/><Relationship Id="rId3" Target="../media/image35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6.png" Type="http://schemas.openxmlformats.org/officeDocument/2006/relationships/image"/><Relationship Id="rId3" Target="../media/image37.svg" Type="http://schemas.openxmlformats.org/officeDocument/2006/relationships/image"/><Relationship Id="rId4" Target="../media/image38.png" Type="http://schemas.openxmlformats.org/officeDocument/2006/relationships/image"/><Relationship Id="rId5" Target="../media/image39.svg" Type="http://schemas.openxmlformats.org/officeDocument/2006/relationships/image"/><Relationship Id="rId6" Target="../media/image40.png" Type="http://schemas.openxmlformats.org/officeDocument/2006/relationships/image"/><Relationship Id="rId7" Target="../media/image41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2.png" Type="http://schemas.openxmlformats.org/officeDocument/2006/relationships/image"/><Relationship Id="rId3" Target="../media/image43.svg" Type="http://schemas.openxmlformats.org/officeDocument/2006/relationships/image"/><Relationship Id="rId4" Target="../media/image44.png" Type="http://schemas.openxmlformats.org/officeDocument/2006/relationships/image"/><Relationship Id="rId5" Target="../media/image45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4.png" Type="http://schemas.openxmlformats.org/officeDocument/2006/relationships/image"/><Relationship Id="rId11" Target="../media/image55.svg" Type="http://schemas.openxmlformats.org/officeDocument/2006/relationships/image"/><Relationship Id="rId12" Target="../media/image11.png" Type="http://schemas.openxmlformats.org/officeDocument/2006/relationships/image"/><Relationship Id="rId2" Target="../media/image46.png" Type="http://schemas.openxmlformats.org/officeDocument/2006/relationships/image"/><Relationship Id="rId3" Target="../media/image47.svg" Type="http://schemas.openxmlformats.org/officeDocument/2006/relationships/image"/><Relationship Id="rId4" Target="../media/image48.png" Type="http://schemas.openxmlformats.org/officeDocument/2006/relationships/image"/><Relationship Id="rId5" Target="../media/image49.svg" Type="http://schemas.openxmlformats.org/officeDocument/2006/relationships/image"/><Relationship Id="rId6" Target="../media/image50.png" Type="http://schemas.openxmlformats.org/officeDocument/2006/relationships/image"/><Relationship Id="rId7" Target="../media/image51.svg" Type="http://schemas.openxmlformats.org/officeDocument/2006/relationships/image"/><Relationship Id="rId8" Target="../media/image52.png" Type="http://schemas.openxmlformats.org/officeDocument/2006/relationships/image"/><Relationship Id="rId9" Target="../media/image5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8.png" Type="http://schemas.openxmlformats.org/officeDocument/2006/relationships/image"/><Relationship Id="rId3" Target="../media/image59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8.png" Type="http://schemas.openxmlformats.org/officeDocument/2006/relationships/image"/><Relationship Id="rId11" Target="../media/image69.svg" Type="http://schemas.openxmlformats.org/officeDocument/2006/relationships/image"/><Relationship Id="rId12" Target="../media/image11.png" Type="http://schemas.openxmlformats.org/officeDocument/2006/relationships/image"/><Relationship Id="rId2" Target="../media/image60.png" Type="http://schemas.openxmlformats.org/officeDocument/2006/relationships/image"/><Relationship Id="rId3" Target="../media/image61.svg" Type="http://schemas.openxmlformats.org/officeDocument/2006/relationships/image"/><Relationship Id="rId4" Target="../media/image62.png" Type="http://schemas.openxmlformats.org/officeDocument/2006/relationships/image"/><Relationship Id="rId5" Target="../media/image63.svg" Type="http://schemas.openxmlformats.org/officeDocument/2006/relationships/image"/><Relationship Id="rId6" Target="../media/image64.jpeg" Type="http://schemas.openxmlformats.org/officeDocument/2006/relationships/image"/><Relationship Id="rId7" Target="../media/image65.jpeg" Type="http://schemas.openxmlformats.org/officeDocument/2006/relationships/image"/><Relationship Id="rId8" Target="../media/image66.png" Type="http://schemas.openxmlformats.org/officeDocument/2006/relationships/image"/><Relationship Id="rId9" Target="../media/image67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0.png" Type="http://schemas.openxmlformats.org/officeDocument/2006/relationships/image"/><Relationship Id="rId3" Target="../media/image71.svg" Type="http://schemas.openxmlformats.org/officeDocument/2006/relationships/image"/><Relationship Id="rId4" Target="../media/image72.png" Type="http://schemas.openxmlformats.org/officeDocument/2006/relationships/image"/><Relationship Id="rId5" Target="../media/image73.sv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4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1.png" Type="http://schemas.openxmlformats.org/officeDocument/2006/relationships/image"/><Relationship Id="rId11" Target="../media/image82.svg" Type="http://schemas.openxmlformats.org/officeDocument/2006/relationships/image"/><Relationship Id="rId12" Target="../media/image83.png" Type="http://schemas.openxmlformats.org/officeDocument/2006/relationships/image"/><Relationship Id="rId13" Target="../media/image84.svg" Type="http://schemas.openxmlformats.org/officeDocument/2006/relationships/image"/><Relationship Id="rId14" Target="../media/image85.png" Type="http://schemas.openxmlformats.org/officeDocument/2006/relationships/image"/><Relationship Id="rId15" Target="../media/image86.svg" Type="http://schemas.openxmlformats.org/officeDocument/2006/relationships/image"/><Relationship Id="rId16" Target="../media/image87.png" Type="http://schemas.openxmlformats.org/officeDocument/2006/relationships/image"/><Relationship Id="rId17" Target="../media/image88.svg" Type="http://schemas.openxmlformats.org/officeDocument/2006/relationships/image"/><Relationship Id="rId18" Target="../media/image89.png" Type="http://schemas.openxmlformats.org/officeDocument/2006/relationships/image"/><Relationship Id="rId19" Target="../media/image90.svg" Type="http://schemas.openxmlformats.org/officeDocument/2006/relationships/image"/><Relationship Id="rId2" Target="../media/image75.png" Type="http://schemas.openxmlformats.org/officeDocument/2006/relationships/image"/><Relationship Id="rId20" Target="../media/image11.png" Type="http://schemas.openxmlformats.org/officeDocument/2006/relationships/image"/><Relationship Id="rId3" Target="../media/image76.svg" Type="http://schemas.openxmlformats.org/officeDocument/2006/relationships/image"/><Relationship Id="rId4" Target="../media/image77.png" Type="http://schemas.openxmlformats.org/officeDocument/2006/relationships/image"/><Relationship Id="rId5" Target="../media/image78.svg" Type="http://schemas.openxmlformats.org/officeDocument/2006/relationships/image"/><Relationship Id="rId6" Target="../media/image79.png" Type="http://schemas.openxmlformats.org/officeDocument/2006/relationships/image"/><Relationship Id="rId7" Target="../media/image80.svg" Type="http://schemas.openxmlformats.org/officeDocument/2006/relationships/image"/><Relationship Id="rId8" Target="../media/image64.jpeg" Type="http://schemas.openxmlformats.org/officeDocument/2006/relationships/image"/><Relationship Id="rId9" Target="../media/image6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1.png" Type="http://schemas.openxmlformats.org/officeDocument/2006/relationships/image"/><Relationship Id="rId3" Target="../media/image92.svg" Type="http://schemas.openxmlformats.org/officeDocument/2006/relationships/image"/><Relationship Id="rId4" Target="../media/image93.png" Type="http://schemas.openxmlformats.org/officeDocument/2006/relationships/image"/><Relationship Id="rId5" Target="../media/image94.svg" Type="http://schemas.openxmlformats.org/officeDocument/2006/relationships/image"/><Relationship Id="rId6" Target="../media/image95.png" Type="http://schemas.openxmlformats.org/officeDocument/2006/relationships/image"/><Relationship Id="rId7" Target="../media/image96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7.png" Type="http://schemas.openxmlformats.org/officeDocument/2006/relationships/image"/><Relationship Id="rId3" Target="../media/image98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9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0.png" Type="http://schemas.openxmlformats.org/officeDocument/2006/relationships/image"/><Relationship Id="rId3" Target="../media/image101.svg" Type="http://schemas.openxmlformats.org/officeDocument/2006/relationships/image"/><Relationship Id="rId4" Target="../media/image102.pn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Relationship Id="rId7" Target="../media/image105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0.png" Type="http://schemas.openxmlformats.org/officeDocument/2006/relationships/image"/><Relationship Id="rId3" Target="../media/image101.svg" Type="http://schemas.openxmlformats.org/officeDocument/2006/relationships/image"/><Relationship Id="rId4" Target="../media/image106.png" Type="http://schemas.openxmlformats.org/officeDocument/2006/relationships/image"/><Relationship Id="rId5" Target="../media/image103.png" Type="http://schemas.openxmlformats.org/officeDocument/2006/relationships/image"/><Relationship Id="rId6" Target="../media/image104.svg" Type="http://schemas.openxmlformats.org/officeDocument/2006/relationships/image"/><Relationship Id="rId7" Target="../media/image107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8.png" Type="http://schemas.openxmlformats.org/officeDocument/2006/relationships/image"/><Relationship Id="rId3" Target="../media/image109.sv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6.png" Type="http://schemas.openxmlformats.org/officeDocument/2006/relationships/image"/><Relationship Id="rId11" Target="../media/image117.svg" Type="http://schemas.openxmlformats.org/officeDocument/2006/relationships/image"/><Relationship Id="rId12" Target="../media/image118.png" Type="http://schemas.openxmlformats.org/officeDocument/2006/relationships/image"/><Relationship Id="rId13" Target="../media/image119.svg" Type="http://schemas.openxmlformats.org/officeDocument/2006/relationships/image"/><Relationship Id="rId14" Target="../media/image120.png" Type="http://schemas.openxmlformats.org/officeDocument/2006/relationships/image"/><Relationship Id="rId15" Target="../media/image121.svg" Type="http://schemas.openxmlformats.org/officeDocument/2006/relationships/image"/><Relationship Id="rId16" Target="../media/image122.png" Type="http://schemas.openxmlformats.org/officeDocument/2006/relationships/image"/><Relationship Id="rId17" Target="../media/image123.svg" Type="http://schemas.openxmlformats.org/officeDocument/2006/relationships/image"/><Relationship Id="rId18" Target="../media/image124.png" Type="http://schemas.openxmlformats.org/officeDocument/2006/relationships/image"/><Relationship Id="rId19" Target="../media/image125.svg" Type="http://schemas.openxmlformats.org/officeDocument/2006/relationships/image"/><Relationship Id="rId2" Target="../media/image64.jpeg" Type="http://schemas.openxmlformats.org/officeDocument/2006/relationships/image"/><Relationship Id="rId20" Target="../media/image126.png" Type="http://schemas.openxmlformats.org/officeDocument/2006/relationships/image"/><Relationship Id="rId21" Target="../media/image127.svg" Type="http://schemas.openxmlformats.org/officeDocument/2006/relationships/image"/><Relationship Id="rId22" Target="../media/image11.png" Type="http://schemas.openxmlformats.org/officeDocument/2006/relationships/image"/><Relationship Id="rId3" Target="../media/image65.jpeg" Type="http://schemas.openxmlformats.org/officeDocument/2006/relationships/image"/><Relationship Id="rId4" Target="../media/image110.png" Type="http://schemas.openxmlformats.org/officeDocument/2006/relationships/image"/><Relationship Id="rId5" Target="../media/image111.svg" Type="http://schemas.openxmlformats.org/officeDocument/2006/relationships/image"/><Relationship Id="rId6" Target="../media/image112.png" Type="http://schemas.openxmlformats.org/officeDocument/2006/relationships/image"/><Relationship Id="rId7" Target="../media/image113.svg" Type="http://schemas.openxmlformats.org/officeDocument/2006/relationships/image"/><Relationship Id="rId8" Target="../media/image114.png" Type="http://schemas.openxmlformats.org/officeDocument/2006/relationships/image"/><Relationship Id="rId9" Target="../media/image11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846820"/>
            <a:ext cx="2125408" cy="2125408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6162201" y="-480060"/>
            <a:ext cx="2742628" cy="2742628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813280" y="-685800"/>
            <a:ext cx="4388548" cy="4388548"/>
            <a:chOff x="0" y="0"/>
            <a:chExt cx="5851398" cy="58513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851398" cy="5851398"/>
            </a:xfrm>
            <a:custGeom>
              <a:avLst/>
              <a:gdLst/>
              <a:ahLst/>
              <a:cxnLst/>
              <a:rect r="r" b="b" t="t" l="l"/>
              <a:pathLst>
                <a:path h="5851398" w="5851398">
                  <a:moveTo>
                    <a:pt x="0" y="2925699"/>
                  </a:moveTo>
                  <a:cubicBezTo>
                    <a:pt x="0" y="1309878"/>
                    <a:pt x="1309878" y="0"/>
                    <a:pt x="2925699" y="0"/>
                  </a:cubicBezTo>
                  <a:cubicBezTo>
                    <a:pt x="4541520" y="0"/>
                    <a:pt x="5851398" y="1309878"/>
                    <a:pt x="5851398" y="2925699"/>
                  </a:cubicBezTo>
                  <a:cubicBezTo>
                    <a:pt x="5851398" y="4541520"/>
                    <a:pt x="4541520" y="5851398"/>
                    <a:pt x="2925699" y="5851398"/>
                  </a:cubicBezTo>
                  <a:cubicBezTo>
                    <a:pt x="1309878" y="5851398"/>
                    <a:pt x="0" y="4541520"/>
                    <a:pt x="0" y="292569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-1234440" y="7818120"/>
            <a:ext cx="3291269" cy="3291269"/>
            <a:chOff x="0" y="0"/>
            <a:chExt cx="4388358" cy="438835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388358" cy="4388358"/>
            </a:xfrm>
            <a:custGeom>
              <a:avLst/>
              <a:gdLst/>
              <a:ahLst/>
              <a:cxnLst/>
              <a:rect r="r" b="b" t="t" l="l"/>
              <a:pathLst>
                <a:path h="4388358" w="4388358">
                  <a:moveTo>
                    <a:pt x="0" y="2194179"/>
                  </a:moveTo>
                  <a:cubicBezTo>
                    <a:pt x="0" y="982345"/>
                    <a:pt x="982345" y="0"/>
                    <a:pt x="2194179" y="0"/>
                  </a:cubicBezTo>
                  <a:cubicBezTo>
                    <a:pt x="3406013" y="0"/>
                    <a:pt x="4388358" y="982345"/>
                    <a:pt x="4388358" y="2194179"/>
                  </a:cubicBezTo>
                  <a:cubicBezTo>
                    <a:pt x="4388358" y="3406013"/>
                    <a:pt x="3406013" y="4388358"/>
                    <a:pt x="2194179" y="4388358"/>
                  </a:cubicBezTo>
                  <a:cubicBezTo>
                    <a:pt x="982345" y="4388358"/>
                    <a:pt x="0" y="3406013"/>
                    <a:pt x="0" y="21941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4376" y="928259"/>
            <a:ext cx="4040819" cy="40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FUSIONPAY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4376" y="2025539"/>
            <a:ext cx="9527219" cy="19148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7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</a:t>
            </a:r>
          </a:p>
          <a:p>
            <a:pPr algn="l">
              <a:lnSpc>
                <a:spcPts val="6838"/>
              </a:lnSpc>
            </a:pPr>
            <a:r>
              <a:rPr lang="en-US" sz="57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Management System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78916" y="4316216"/>
            <a:ext cx="9115739" cy="10508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 modular finance platform for product purchases, EMI management,</a:t>
            </a:r>
          </a:p>
          <a:p>
            <a:pPr algn="l">
              <a:lnSpc>
                <a:spcPts val="2700"/>
              </a:lnSpc>
            </a:pPr>
            <a:r>
              <a:rPr lang="en-US" sz="22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user accounts and administration — built with Spring Boot microservices and Angular.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025528" y="5908748"/>
            <a:ext cx="2021681" cy="499396"/>
          </a:xfrm>
          <a:custGeom>
            <a:avLst/>
            <a:gdLst/>
            <a:ahLst/>
            <a:cxnLst/>
            <a:rect r="r" b="b" t="t" l="l"/>
            <a:pathLst>
              <a:path h="499396" w="2021681">
                <a:moveTo>
                  <a:pt x="0" y="0"/>
                </a:moveTo>
                <a:lnTo>
                  <a:pt x="2021681" y="0"/>
                </a:lnTo>
                <a:lnTo>
                  <a:pt x="202168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189082" y="5991149"/>
            <a:ext cx="169560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SPRING BOOT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3165548" y="5908748"/>
            <a:ext cx="2296001" cy="499396"/>
          </a:xfrm>
          <a:custGeom>
            <a:avLst/>
            <a:gdLst/>
            <a:ahLst/>
            <a:cxnLst/>
            <a:rect r="r" b="b" t="t" l="l"/>
            <a:pathLst>
              <a:path h="499396" w="2296001">
                <a:moveTo>
                  <a:pt x="0" y="0"/>
                </a:moveTo>
                <a:lnTo>
                  <a:pt x="2296001" y="0"/>
                </a:lnTo>
                <a:lnTo>
                  <a:pt x="229600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28559" y="5991149"/>
            <a:ext cx="196992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MICROSERVICES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579354" y="5908748"/>
            <a:ext cx="1610201" cy="499396"/>
          </a:xfrm>
          <a:custGeom>
            <a:avLst/>
            <a:gdLst/>
            <a:ahLst/>
            <a:cxnLst/>
            <a:rect r="r" b="b" t="t" l="l"/>
            <a:pathLst>
              <a:path h="499396" w="1610201">
                <a:moveTo>
                  <a:pt x="0" y="0"/>
                </a:moveTo>
                <a:lnTo>
                  <a:pt x="1610202" y="0"/>
                </a:lnTo>
                <a:lnTo>
                  <a:pt x="161020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742356" y="5991149"/>
            <a:ext cx="128412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ANGULAR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307894" y="5908748"/>
            <a:ext cx="1404461" cy="499396"/>
          </a:xfrm>
          <a:custGeom>
            <a:avLst/>
            <a:gdLst/>
            <a:ahLst/>
            <a:cxnLst/>
            <a:rect r="r" b="b" t="t" l="l"/>
            <a:pathLst>
              <a:path h="499396" w="1404461">
                <a:moveTo>
                  <a:pt x="0" y="0"/>
                </a:moveTo>
                <a:lnTo>
                  <a:pt x="1404462" y="0"/>
                </a:lnTo>
                <a:lnTo>
                  <a:pt x="140446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470896" y="5991149"/>
            <a:ext cx="107838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MYSQL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770919" y="1645920"/>
            <a:ext cx="4781169" cy="6377368"/>
            <a:chOff x="0" y="0"/>
            <a:chExt cx="6374892" cy="8503158"/>
          </a:xfrm>
        </p:grpSpPr>
        <p:sp>
          <p:nvSpPr>
            <p:cNvPr name="Freeform 22" id="22" descr="s1_2.png"/>
            <p:cNvSpPr/>
            <p:nvPr/>
          </p:nvSpPr>
          <p:spPr>
            <a:xfrm flipH="false" flipV="false" rot="0">
              <a:off x="0" y="0"/>
              <a:ext cx="6374892" cy="8503158"/>
            </a:xfrm>
            <a:custGeom>
              <a:avLst/>
              <a:gdLst/>
              <a:ahLst/>
              <a:cxnLst/>
              <a:rect r="r" b="b" t="t" l="l"/>
              <a:pathLst>
                <a:path h="8503158" w="6374892">
                  <a:moveTo>
                    <a:pt x="0" y="0"/>
                  </a:moveTo>
                  <a:lnTo>
                    <a:pt x="6374892" y="0"/>
                  </a:lnTo>
                  <a:lnTo>
                    <a:pt x="6374892" y="8503158"/>
                  </a:lnTo>
                  <a:lnTo>
                    <a:pt x="0" y="85031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3" t="0" r="-3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78916" y="6782552"/>
            <a:ext cx="1221161" cy="32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8"/>
              </a:lnSpc>
            </a:pPr>
            <a:r>
              <a:rPr lang="en-US" sz="179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Team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96709" y="7103469"/>
            <a:ext cx="4645647" cy="11074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8"/>
              </a:lnSpc>
            </a:pPr>
            <a:r>
              <a:rPr lang="en-US" sz="1857" b="true">
                <a:solidFill>
                  <a:srgbClr val="303D54"/>
                </a:solidFill>
                <a:latin typeface="Aptos Bold"/>
                <a:ea typeface="Aptos Bold"/>
                <a:cs typeface="Aptos Bold"/>
                <a:sym typeface="Aptos Bold"/>
              </a:rPr>
              <a:t>Dongeshwar Sudhiksha - (85010913)</a:t>
            </a:r>
          </a:p>
          <a:p>
            <a:pPr algn="l">
              <a:lnSpc>
                <a:spcPts val="2228"/>
              </a:lnSpc>
            </a:pPr>
            <a:r>
              <a:rPr lang="en-US" sz="1857" b="true">
                <a:solidFill>
                  <a:srgbClr val="303D54"/>
                </a:solidFill>
                <a:latin typeface="Aptos Bold"/>
                <a:ea typeface="Aptos Bold"/>
                <a:cs typeface="Aptos Bold"/>
                <a:sym typeface="Aptos Bold"/>
              </a:rPr>
              <a:t>Pallikonda Hannsika - (85010971)</a:t>
            </a:r>
          </a:p>
          <a:p>
            <a:pPr algn="l">
              <a:lnSpc>
                <a:spcPts val="2228"/>
              </a:lnSpc>
            </a:pPr>
            <a:r>
              <a:rPr lang="en-US" sz="1857" b="true">
                <a:solidFill>
                  <a:srgbClr val="303D54"/>
                </a:solidFill>
                <a:latin typeface="Aptos Bold"/>
                <a:ea typeface="Aptos Bold"/>
                <a:cs typeface="Aptos Bold"/>
                <a:sym typeface="Aptos Bold"/>
              </a:rPr>
              <a:t>Sai Kirthana Konduru - (85010992)</a:t>
            </a:r>
          </a:p>
          <a:p>
            <a:pPr algn="l">
              <a:lnSpc>
                <a:spcPts val="2228"/>
              </a:lnSpc>
            </a:pPr>
          </a:p>
        </p:txBody>
      </p:sp>
      <p:sp>
        <p:nvSpPr>
          <p:cNvPr name="AutoShape 25" id="25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6" id="26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162201" y="521103"/>
            <a:ext cx="1645348" cy="685228"/>
            <a:chOff x="0" y="0"/>
            <a:chExt cx="2193798" cy="913638"/>
          </a:xfrm>
        </p:grpSpPr>
        <p:sp>
          <p:nvSpPr>
            <p:cNvPr name="Freeform 29" id="29" descr="Coforge_logo_clean.png"/>
            <p:cNvSpPr/>
            <p:nvPr/>
          </p:nvSpPr>
          <p:spPr>
            <a:xfrm flipH="false" flipV="false" rot="0">
              <a:off x="0" y="0"/>
              <a:ext cx="2193798" cy="913638"/>
            </a:xfrm>
            <a:custGeom>
              <a:avLst/>
              <a:gdLst/>
              <a:ahLst/>
              <a:cxnLst/>
              <a:rect r="r" b="b" t="t" l="l"/>
              <a:pathLst>
                <a:path h="913638" w="2193798">
                  <a:moveTo>
                    <a:pt x="0" y="0"/>
                  </a:moveTo>
                  <a:lnTo>
                    <a:pt x="2193798" y="0"/>
                  </a:lnTo>
                  <a:lnTo>
                    <a:pt x="2193798" y="913638"/>
                  </a:lnTo>
                  <a:lnTo>
                    <a:pt x="0" y="913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3" r="0" b="-25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5581430" y="953357"/>
            <a:ext cx="2399728" cy="1110234"/>
            <a:chOff x="0" y="0"/>
            <a:chExt cx="3199638" cy="1480312"/>
          </a:xfrm>
        </p:grpSpPr>
        <p:sp>
          <p:nvSpPr>
            <p:cNvPr name="Freeform 31" id="31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225247"/>
            <a:ext cx="2746981" cy="2746981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85453" y="-480060"/>
            <a:ext cx="3319377" cy="3319377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01 • OVERVIEW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FusionPay at a glance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What the system actually delivers, based on the project implementation.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74871" y="2520791"/>
            <a:ext cx="4010406" cy="2158746"/>
          </a:xfrm>
          <a:custGeom>
            <a:avLst/>
            <a:gdLst/>
            <a:ahLst/>
            <a:cxnLst/>
            <a:rect r="r" b="b" t="t" l="l"/>
            <a:pathLst>
              <a:path h="2158746" w="4010406">
                <a:moveTo>
                  <a:pt x="0" y="0"/>
                </a:moveTo>
                <a:lnTo>
                  <a:pt x="4010406" y="0"/>
                </a:lnTo>
                <a:lnTo>
                  <a:pt x="401040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74871" y="2520791"/>
            <a:ext cx="128873" cy="2158746"/>
            <a:chOff x="0" y="0"/>
            <a:chExt cx="171831" cy="287832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831" cy="2878328"/>
            </a:xfrm>
            <a:custGeom>
              <a:avLst/>
              <a:gdLst/>
              <a:ahLst/>
              <a:cxnLst/>
              <a:rect r="r" b="b" t="t" l="l"/>
              <a:pathLst>
                <a:path h="287832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878328"/>
                  </a:lnTo>
                  <a:lnTo>
                    <a:pt x="0" y="2878328"/>
                  </a:lnTo>
                  <a:close/>
                </a:path>
              </a:pathLst>
            </a:custGeom>
            <a:solidFill>
              <a:srgbClr val="4870D6"/>
            </a:solidFill>
            <a:ln w="19050" cap="sq">
              <a:solidFill>
                <a:srgbClr val="4870D6"/>
              </a:solidFill>
              <a:prstDash val="solid"/>
              <a:miter/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34440" y="2839317"/>
            <a:ext cx="520541" cy="520541"/>
            <a:chOff x="0" y="0"/>
            <a:chExt cx="694055" cy="69405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271159" y="2896562"/>
            <a:ext cx="447123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956959" y="2876036"/>
            <a:ext cx="260063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 accounts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920240" y="3525117"/>
            <a:ext cx="2674077" cy="89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Registration, login, profile, bank account and card details.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5126831" y="2520791"/>
            <a:ext cx="4010406" cy="2158746"/>
          </a:xfrm>
          <a:custGeom>
            <a:avLst/>
            <a:gdLst/>
            <a:ahLst/>
            <a:cxnLst/>
            <a:rect r="r" b="b" t="t" l="l"/>
            <a:pathLst>
              <a:path h="2158746" w="4010406">
                <a:moveTo>
                  <a:pt x="0" y="0"/>
                </a:moveTo>
                <a:lnTo>
                  <a:pt x="4010406" y="0"/>
                </a:lnTo>
                <a:lnTo>
                  <a:pt x="401040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5126831" y="2520791"/>
            <a:ext cx="128873" cy="2158746"/>
            <a:chOff x="0" y="0"/>
            <a:chExt cx="171831" cy="287832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1831" cy="2878328"/>
            </a:xfrm>
            <a:custGeom>
              <a:avLst/>
              <a:gdLst/>
              <a:ahLst/>
              <a:cxnLst/>
              <a:rect r="r" b="b" t="t" l="l"/>
              <a:pathLst>
                <a:path h="287832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878328"/>
                  </a:lnTo>
                  <a:lnTo>
                    <a:pt x="0" y="2878328"/>
                  </a:lnTo>
                  <a:close/>
                </a:path>
              </a:pathLst>
            </a:custGeom>
            <a:solidFill>
              <a:srgbClr val="37B5AA"/>
            </a:solidFill>
            <a:ln w="19050" cap="sq">
              <a:solidFill>
                <a:srgbClr val="37B5AA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5486400" y="2839317"/>
            <a:ext cx="520541" cy="520541"/>
            <a:chOff x="0" y="0"/>
            <a:chExt cx="694055" cy="69405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523119" y="2896562"/>
            <a:ext cx="447123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208919" y="2876036"/>
            <a:ext cx="260063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commerce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172200" y="3525117"/>
            <a:ext cx="2674077" cy="89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Catalog, search, category filtering, CRUD and purchase.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9378791" y="2520791"/>
            <a:ext cx="4010406" cy="2158746"/>
          </a:xfrm>
          <a:custGeom>
            <a:avLst/>
            <a:gdLst/>
            <a:ahLst/>
            <a:cxnLst/>
            <a:rect r="r" b="b" t="t" l="l"/>
            <a:pathLst>
              <a:path h="2158746" w="4010406">
                <a:moveTo>
                  <a:pt x="0" y="0"/>
                </a:moveTo>
                <a:lnTo>
                  <a:pt x="4010406" y="0"/>
                </a:lnTo>
                <a:lnTo>
                  <a:pt x="401040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9378791" y="2520791"/>
            <a:ext cx="128873" cy="2158746"/>
            <a:chOff x="0" y="0"/>
            <a:chExt cx="171831" cy="287832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71831" cy="2878328"/>
            </a:xfrm>
            <a:custGeom>
              <a:avLst/>
              <a:gdLst/>
              <a:ahLst/>
              <a:cxnLst/>
              <a:rect r="r" b="b" t="t" l="l"/>
              <a:pathLst>
                <a:path h="287832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878328"/>
                  </a:lnTo>
                  <a:lnTo>
                    <a:pt x="0" y="2878328"/>
                  </a:lnTo>
                  <a:close/>
                </a:path>
              </a:pathLst>
            </a:custGeom>
            <a:solidFill>
              <a:srgbClr val="7760D2"/>
            </a:solidFill>
            <a:ln w="19050" cap="sq">
              <a:solidFill>
                <a:srgbClr val="7760D2"/>
              </a:solidFill>
              <a:prstDash val="solid"/>
              <a:miter/>
            </a:ln>
          </p:spPr>
        </p:sp>
      </p:grpSp>
      <p:grpSp>
        <p:nvGrpSpPr>
          <p:cNvPr name="Group 28" id="28"/>
          <p:cNvGrpSpPr/>
          <p:nvPr/>
        </p:nvGrpSpPr>
        <p:grpSpPr>
          <a:xfrm rot="0">
            <a:off x="9738360" y="2839317"/>
            <a:ext cx="520541" cy="520541"/>
            <a:chOff x="0" y="0"/>
            <a:chExt cx="694055" cy="6940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775079" y="2896562"/>
            <a:ext cx="447123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460879" y="2876036"/>
            <a:ext cx="260063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424160" y="3525117"/>
            <a:ext cx="2674077" cy="89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Purchase creation, EMI calculation, history and status tracking.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3630751" y="2520791"/>
            <a:ext cx="3736086" cy="2158746"/>
          </a:xfrm>
          <a:custGeom>
            <a:avLst/>
            <a:gdLst/>
            <a:ahLst/>
            <a:cxnLst/>
            <a:rect r="r" b="b" t="t" l="l"/>
            <a:pathLst>
              <a:path h="2158746" w="3736086">
                <a:moveTo>
                  <a:pt x="0" y="0"/>
                </a:moveTo>
                <a:lnTo>
                  <a:pt x="3736086" y="0"/>
                </a:lnTo>
                <a:lnTo>
                  <a:pt x="373608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3630751" y="2520791"/>
            <a:ext cx="128873" cy="2158746"/>
            <a:chOff x="0" y="0"/>
            <a:chExt cx="171831" cy="2878328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71831" cy="2878328"/>
            </a:xfrm>
            <a:custGeom>
              <a:avLst/>
              <a:gdLst/>
              <a:ahLst/>
              <a:cxnLst/>
              <a:rect r="r" b="b" t="t" l="l"/>
              <a:pathLst>
                <a:path h="287832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878328"/>
                  </a:lnTo>
                  <a:lnTo>
                    <a:pt x="0" y="2878328"/>
                  </a:lnTo>
                  <a:close/>
                </a:path>
              </a:pathLst>
            </a:custGeom>
            <a:solidFill>
              <a:srgbClr val="F49D45"/>
            </a:solidFill>
            <a:ln w="19050" cap="sq">
              <a:solidFill>
                <a:srgbClr val="F49D45"/>
              </a:solidFill>
              <a:prstDash val="solid"/>
              <a:miter/>
            </a:ln>
          </p:spPr>
        </p:sp>
      </p:grpSp>
      <p:grpSp>
        <p:nvGrpSpPr>
          <p:cNvPr name="Group 36" id="36"/>
          <p:cNvGrpSpPr/>
          <p:nvPr/>
        </p:nvGrpSpPr>
        <p:grpSpPr>
          <a:xfrm rot="0">
            <a:off x="13990320" y="2839317"/>
            <a:ext cx="520541" cy="520541"/>
            <a:chOff x="0" y="0"/>
            <a:chExt cx="694055" cy="694055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14027039" y="2896562"/>
            <a:ext cx="447123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712839" y="2876036"/>
            <a:ext cx="232631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Administration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676120" y="3525117"/>
            <a:ext cx="2605497" cy="890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Admin management plus user and product visibility.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969302" y="5317379"/>
            <a:ext cx="7469819" cy="406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One application • six backend components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012031" y="6224111"/>
            <a:ext cx="1884521" cy="499396"/>
          </a:xfrm>
          <a:custGeom>
            <a:avLst/>
            <a:gdLst/>
            <a:ahLst/>
            <a:cxnLst/>
            <a:rect r="r" b="b" t="t" l="l"/>
            <a:pathLst>
              <a:path h="499396" w="1884521">
                <a:moveTo>
                  <a:pt x="0" y="0"/>
                </a:moveTo>
                <a:lnTo>
                  <a:pt x="1884521" y="0"/>
                </a:lnTo>
                <a:lnTo>
                  <a:pt x="188452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175042" y="6306512"/>
            <a:ext cx="155844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ANGULAR</a:t>
            </a:r>
          </a:p>
        </p:txBody>
      </p:sp>
      <p:sp>
        <p:nvSpPr>
          <p:cNvPr name="AutoShape 44" id="44"/>
          <p:cNvSpPr/>
          <p:nvPr/>
        </p:nvSpPr>
        <p:spPr>
          <a:xfrm rot="36300">
            <a:off x="2875569" y="6464265"/>
            <a:ext cx="901656" cy="0"/>
          </a:xfrm>
          <a:prstGeom prst="line">
            <a:avLst/>
          </a:prstGeom>
          <a:ln cap="rnd" w="9525">
            <a:solidFill>
              <a:srgbClr val="4870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5" id="45"/>
          <p:cNvSpPr/>
          <p:nvPr/>
        </p:nvSpPr>
        <p:spPr>
          <a:xfrm flipH="false" flipV="false" rot="0">
            <a:off x="3796274" y="6224111"/>
            <a:ext cx="2158841" cy="499396"/>
          </a:xfrm>
          <a:custGeom>
            <a:avLst/>
            <a:gdLst/>
            <a:ahLst/>
            <a:cxnLst/>
            <a:rect r="r" b="b" t="t" l="l"/>
            <a:pathLst>
              <a:path h="499396" w="2158841">
                <a:moveTo>
                  <a:pt x="0" y="0"/>
                </a:moveTo>
                <a:lnTo>
                  <a:pt x="2158842" y="0"/>
                </a:lnTo>
                <a:lnTo>
                  <a:pt x="215884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6" id="46"/>
          <p:cNvSpPr txBox="true"/>
          <p:nvPr/>
        </p:nvSpPr>
        <p:spPr>
          <a:xfrm rot="0">
            <a:off x="3959276" y="6306512"/>
            <a:ext cx="183276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API GATEWAY</a:t>
            </a:r>
          </a:p>
        </p:txBody>
      </p:sp>
      <p:sp>
        <p:nvSpPr>
          <p:cNvPr name="AutoShape 47" id="47"/>
          <p:cNvSpPr/>
          <p:nvPr/>
        </p:nvSpPr>
        <p:spPr>
          <a:xfrm rot="35220">
            <a:off x="5934132" y="6464265"/>
            <a:ext cx="929192" cy="0"/>
          </a:xfrm>
          <a:prstGeom prst="line">
            <a:avLst/>
          </a:prstGeom>
          <a:ln cap="rnd" w="9525">
            <a:solidFill>
              <a:srgbClr val="7760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8" id="48"/>
          <p:cNvSpPr/>
          <p:nvPr/>
        </p:nvSpPr>
        <p:spPr>
          <a:xfrm flipH="false" flipV="false" rot="0">
            <a:off x="6909911" y="6224111"/>
            <a:ext cx="1198721" cy="499396"/>
          </a:xfrm>
          <a:custGeom>
            <a:avLst/>
            <a:gdLst/>
            <a:ahLst/>
            <a:cxnLst/>
            <a:rect r="r" b="b" t="t" l="l"/>
            <a:pathLst>
              <a:path h="499396" w="1198721">
                <a:moveTo>
                  <a:pt x="0" y="0"/>
                </a:moveTo>
                <a:lnTo>
                  <a:pt x="1198722" y="0"/>
                </a:lnTo>
                <a:lnTo>
                  <a:pt x="119872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9" id="49"/>
          <p:cNvSpPr txBox="true"/>
          <p:nvPr/>
        </p:nvSpPr>
        <p:spPr>
          <a:xfrm rot="0">
            <a:off x="7072922" y="6306512"/>
            <a:ext cx="87264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USER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8240468" y="6224111"/>
            <a:ext cx="1404461" cy="499396"/>
          </a:xfrm>
          <a:custGeom>
            <a:avLst/>
            <a:gdLst/>
            <a:ahLst/>
            <a:cxnLst/>
            <a:rect r="r" b="b" t="t" l="l"/>
            <a:pathLst>
              <a:path h="499396" w="1404461">
                <a:moveTo>
                  <a:pt x="0" y="0"/>
                </a:moveTo>
                <a:lnTo>
                  <a:pt x="1404461" y="0"/>
                </a:lnTo>
                <a:lnTo>
                  <a:pt x="140446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8403479" y="6306512"/>
            <a:ext cx="107838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PRODUCT</a:t>
            </a:r>
          </a:p>
        </p:txBody>
      </p:sp>
      <p:sp>
        <p:nvSpPr>
          <p:cNvPr name="Freeform 52" id="52"/>
          <p:cNvSpPr/>
          <p:nvPr/>
        </p:nvSpPr>
        <p:spPr>
          <a:xfrm flipH="false" flipV="false" rot="0">
            <a:off x="9762734" y="6224111"/>
            <a:ext cx="1473041" cy="499396"/>
          </a:xfrm>
          <a:custGeom>
            <a:avLst/>
            <a:gdLst/>
            <a:ahLst/>
            <a:cxnLst/>
            <a:rect r="r" b="b" t="t" l="l"/>
            <a:pathLst>
              <a:path h="499396" w="1473041">
                <a:moveTo>
                  <a:pt x="0" y="0"/>
                </a:moveTo>
                <a:lnTo>
                  <a:pt x="1473042" y="0"/>
                </a:lnTo>
                <a:lnTo>
                  <a:pt x="147304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9925736" y="6306512"/>
            <a:ext cx="114696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FINANCE</a:t>
            </a:r>
          </a:p>
        </p:txBody>
      </p:sp>
      <p:sp>
        <p:nvSpPr>
          <p:cNvPr name="Freeform 54" id="54"/>
          <p:cNvSpPr/>
          <p:nvPr/>
        </p:nvSpPr>
        <p:spPr>
          <a:xfrm flipH="false" flipV="false" rot="0">
            <a:off x="11367611" y="6224111"/>
            <a:ext cx="1198721" cy="499396"/>
          </a:xfrm>
          <a:custGeom>
            <a:avLst/>
            <a:gdLst/>
            <a:ahLst/>
            <a:cxnLst/>
            <a:rect r="r" b="b" t="t" l="l"/>
            <a:pathLst>
              <a:path h="499396" w="1198721">
                <a:moveTo>
                  <a:pt x="0" y="0"/>
                </a:moveTo>
                <a:lnTo>
                  <a:pt x="1198722" y="0"/>
                </a:lnTo>
                <a:lnTo>
                  <a:pt x="119872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5" id="55"/>
          <p:cNvSpPr txBox="true"/>
          <p:nvPr/>
        </p:nvSpPr>
        <p:spPr>
          <a:xfrm rot="0">
            <a:off x="11530622" y="6306512"/>
            <a:ext cx="87264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ADMIN</a:t>
            </a:r>
          </a:p>
        </p:txBody>
      </p:sp>
      <p:sp>
        <p:nvSpPr>
          <p:cNvPr name="Freeform 56" id="56"/>
          <p:cNvSpPr/>
          <p:nvPr/>
        </p:nvSpPr>
        <p:spPr>
          <a:xfrm flipH="false" flipV="false" rot="0">
            <a:off x="12944951" y="6224111"/>
            <a:ext cx="1335881" cy="499396"/>
          </a:xfrm>
          <a:custGeom>
            <a:avLst/>
            <a:gdLst/>
            <a:ahLst/>
            <a:cxnLst/>
            <a:rect r="r" b="b" t="t" l="l"/>
            <a:pathLst>
              <a:path h="499396" w="1335881">
                <a:moveTo>
                  <a:pt x="0" y="0"/>
                </a:moveTo>
                <a:lnTo>
                  <a:pt x="1335881" y="0"/>
                </a:lnTo>
                <a:lnTo>
                  <a:pt x="133588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3107962" y="6306512"/>
            <a:ext cx="100980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EUREKA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51650" y="7778125"/>
            <a:ext cx="16110899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Ports: Gateway 8080 • User 8081 • Product 8082 • Finance 8083 • Admin 8084 • Eureka 8761</a:t>
            </a:r>
          </a:p>
        </p:txBody>
      </p:sp>
      <p:sp>
        <p:nvSpPr>
          <p:cNvPr name="AutoShape 59" id="59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0" id="60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15875999" y="668522"/>
            <a:ext cx="2399728" cy="1110234"/>
            <a:chOff x="0" y="0"/>
            <a:chExt cx="3199638" cy="1480312"/>
          </a:xfrm>
        </p:grpSpPr>
        <p:sp>
          <p:nvSpPr>
            <p:cNvPr name="Freeform 63" id="63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294532"/>
            <a:ext cx="2677697" cy="2677697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83698" y="-480060"/>
            <a:ext cx="3721132" cy="3721132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02 • MOTIVATION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The problem FusionPay addresses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The project focuses on bringing product purchase and EMI-related finance operations into one system.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43451" y="2383631"/>
            <a:ext cx="7988046" cy="1788319"/>
          </a:xfrm>
          <a:custGeom>
            <a:avLst/>
            <a:gdLst/>
            <a:ahLst/>
            <a:cxnLst/>
            <a:rect r="r" b="b" t="t" l="l"/>
            <a:pathLst>
              <a:path h="1788319" w="7988046">
                <a:moveTo>
                  <a:pt x="0" y="0"/>
                </a:moveTo>
                <a:lnTo>
                  <a:pt x="7988046" y="0"/>
                </a:lnTo>
                <a:lnTo>
                  <a:pt x="7988046" y="1788319"/>
                </a:lnTo>
                <a:lnTo>
                  <a:pt x="0" y="1788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43451" y="2383631"/>
            <a:ext cx="128873" cy="1788319"/>
            <a:chOff x="0" y="0"/>
            <a:chExt cx="171831" cy="23844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831" cy="2384425"/>
            </a:xfrm>
            <a:custGeom>
              <a:avLst/>
              <a:gdLst/>
              <a:ahLst/>
              <a:cxnLst/>
              <a:rect r="r" b="b" t="t" l="l"/>
              <a:pathLst>
                <a:path h="2384425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384425"/>
                  </a:lnTo>
                  <a:lnTo>
                    <a:pt x="0" y="2384425"/>
                  </a:lnTo>
                  <a:close/>
                </a:path>
              </a:pathLst>
            </a:custGeom>
            <a:solidFill>
              <a:srgbClr val="4870D6"/>
            </a:solidFill>
            <a:ln w="19050" cap="sq">
              <a:solidFill>
                <a:srgbClr val="4870D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80782" y="2738876"/>
            <a:ext cx="722303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Fragmented finance operations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4063" y="3387957"/>
            <a:ext cx="7611837" cy="75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User details, product information and purchase records need coordinated handling.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43451" y="4344914"/>
            <a:ext cx="7988046" cy="1788319"/>
          </a:xfrm>
          <a:custGeom>
            <a:avLst/>
            <a:gdLst/>
            <a:ahLst/>
            <a:cxnLst/>
            <a:rect r="r" b="b" t="t" l="l"/>
            <a:pathLst>
              <a:path h="1788319" w="7988046">
                <a:moveTo>
                  <a:pt x="0" y="0"/>
                </a:moveTo>
                <a:lnTo>
                  <a:pt x="7988046" y="0"/>
                </a:lnTo>
                <a:lnTo>
                  <a:pt x="7988046" y="1788319"/>
                </a:lnTo>
                <a:lnTo>
                  <a:pt x="0" y="1788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43451" y="4344914"/>
            <a:ext cx="128873" cy="1788319"/>
            <a:chOff x="0" y="0"/>
            <a:chExt cx="171831" cy="23844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71831" cy="2384425"/>
            </a:xfrm>
            <a:custGeom>
              <a:avLst/>
              <a:gdLst/>
              <a:ahLst/>
              <a:cxnLst/>
              <a:rect r="r" b="b" t="t" l="l"/>
              <a:pathLst>
                <a:path h="2384425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384425"/>
                  </a:lnTo>
                  <a:lnTo>
                    <a:pt x="0" y="2384425"/>
                  </a:lnTo>
                  <a:close/>
                </a:path>
              </a:pathLst>
            </a:custGeom>
            <a:solidFill>
              <a:srgbClr val="7760D2"/>
            </a:solidFill>
            <a:ln w="19050" cap="sq">
              <a:solidFill>
                <a:srgbClr val="7760D2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80782" y="4700159"/>
            <a:ext cx="722303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Manual administration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44063" y="5349240"/>
            <a:ext cx="7611837" cy="75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Admins need dedicated capabilities to view users, products and purchase information.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43451" y="6306188"/>
            <a:ext cx="7988046" cy="1788319"/>
          </a:xfrm>
          <a:custGeom>
            <a:avLst/>
            <a:gdLst/>
            <a:ahLst/>
            <a:cxnLst/>
            <a:rect r="r" b="b" t="t" l="l"/>
            <a:pathLst>
              <a:path h="1788319" w="7988046">
                <a:moveTo>
                  <a:pt x="0" y="0"/>
                </a:moveTo>
                <a:lnTo>
                  <a:pt x="7988046" y="0"/>
                </a:lnTo>
                <a:lnTo>
                  <a:pt x="7988046" y="1788319"/>
                </a:lnTo>
                <a:lnTo>
                  <a:pt x="0" y="17883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43451" y="6306188"/>
            <a:ext cx="128873" cy="1788319"/>
            <a:chOff x="0" y="0"/>
            <a:chExt cx="171831" cy="2384425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1831" cy="2384425"/>
            </a:xfrm>
            <a:custGeom>
              <a:avLst/>
              <a:gdLst/>
              <a:ahLst/>
              <a:cxnLst/>
              <a:rect r="r" b="b" t="t" l="l"/>
              <a:pathLst>
                <a:path h="2384425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384425"/>
                  </a:lnTo>
                  <a:lnTo>
                    <a:pt x="0" y="2384425"/>
                  </a:lnTo>
                  <a:close/>
                </a:path>
              </a:pathLst>
            </a:custGeom>
            <a:solidFill>
              <a:srgbClr val="37B5AA"/>
            </a:solidFill>
            <a:ln w="19050" cap="sq">
              <a:solidFill>
                <a:srgbClr val="37B5AA"/>
              </a:solidFill>
              <a:prstDash val="solid"/>
              <a:miter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1380782" y="6661442"/>
            <a:ext cx="722303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Purchase + EMI complexity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44063" y="7310523"/>
            <a:ext cx="7611837" cy="7538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 purchase needs product information, user information and finance persistence to work together.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584531" y="2342588"/>
            <a:ext cx="7576661" cy="5930741"/>
          </a:xfrm>
          <a:custGeom>
            <a:avLst/>
            <a:gdLst/>
            <a:ahLst/>
            <a:cxnLst/>
            <a:rect r="r" b="b" t="t" l="l"/>
            <a:pathLst>
              <a:path h="5930741" w="7576661">
                <a:moveTo>
                  <a:pt x="0" y="0"/>
                </a:moveTo>
                <a:lnTo>
                  <a:pt x="7576661" y="0"/>
                </a:lnTo>
                <a:lnTo>
                  <a:pt x="7576661" y="5930741"/>
                </a:lnTo>
                <a:lnTo>
                  <a:pt x="0" y="59307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0159022" y="2848499"/>
            <a:ext cx="6372539" cy="543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19"/>
              </a:lnSpc>
            </a:pPr>
            <a:r>
              <a:rPr lang="en-US" sz="28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From separate concerns → one workflow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218420" y="3771900"/>
            <a:ext cx="493014" cy="493014"/>
            <a:chOff x="0" y="0"/>
            <a:chExt cx="657352" cy="6573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57352" cy="657352"/>
            </a:xfrm>
            <a:custGeom>
              <a:avLst/>
              <a:gdLst/>
              <a:ahLst/>
              <a:cxnLst/>
              <a:rect r="r" b="b" t="t" l="l"/>
              <a:pathLst>
                <a:path h="657352" w="657352">
                  <a:moveTo>
                    <a:pt x="0" y="328676"/>
                  </a:moveTo>
                  <a:cubicBezTo>
                    <a:pt x="0" y="147193"/>
                    <a:pt x="147193" y="0"/>
                    <a:pt x="328676" y="0"/>
                  </a:cubicBezTo>
                  <a:cubicBezTo>
                    <a:pt x="510159" y="0"/>
                    <a:pt x="657352" y="147193"/>
                    <a:pt x="657352" y="328676"/>
                  </a:cubicBezTo>
                  <a:cubicBezTo>
                    <a:pt x="657352" y="510159"/>
                    <a:pt x="510159" y="657352"/>
                    <a:pt x="328676" y="657352"/>
                  </a:cubicBezTo>
                  <a:cubicBezTo>
                    <a:pt x="147193" y="657352"/>
                    <a:pt x="0" y="510159"/>
                    <a:pt x="0" y="328676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1009519" y="3781082"/>
            <a:ext cx="1846259" cy="33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</a:t>
            </a:r>
          </a:p>
        </p:txBody>
      </p:sp>
      <p:sp>
        <p:nvSpPr>
          <p:cNvPr name="AutoShape 29" id="29"/>
          <p:cNvSpPr/>
          <p:nvPr/>
        </p:nvSpPr>
        <p:spPr>
          <a:xfrm rot="134100">
            <a:off x="10221249" y="4466187"/>
            <a:ext cx="488461" cy="0"/>
          </a:xfrm>
          <a:prstGeom prst="line">
            <a:avLst/>
          </a:prstGeom>
          <a:ln cap="rnd" w="19050">
            <a:solidFill>
              <a:srgbClr val="4870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0218420" y="4704483"/>
            <a:ext cx="493014" cy="493014"/>
            <a:chOff x="0" y="0"/>
            <a:chExt cx="657352" cy="65735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57352" cy="657352"/>
            </a:xfrm>
            <a:custGeom>
              <a:avLst/>
              <a:gdLst/>
              <a:ahLst/>
              <a:cxnLst/>
              <a:rect r="r" b="b" t="t" l="l"/>
              <a:pathLst>
                <a:path h="657352" w="657352">
                  <a:moveTo>
                    <a:pt x="0" y="328676"/>
                  </a:moveTo>
                  <a:cubicBezTo>
                    <a:pt x="0" y="147193"/>
                    <a:pt x="147193" y="0"/>
                    <a:pt x="328676" y="0"/>
                  </a:cubicBezTo>
                  <a:cubicBezTo>
                    <a:pt x="510159" y="0"/>
                    <a:pt x="657352" y="147193"/>
                    <a:pt x="657352" y="328676"/>
                  </a:cubicBezTo>
                  <a:cubicBezTo>
                    <a:pt x="657352" y="510159"/>
                    <a:pt x="510159" y="657352"/>
                    <a:pt x="328676" y="657352"/>
                  </a:cubicBezTo>
                  <a:cubicBezTo>
                    <a:pt x="147193" y="657352"/>
                    <a:pt x="0" y="510159"/>
                    <a:pt x="0" y="328676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1009519" y="4713656"/>
            <a:ext cx="1846259" cy="33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</a:t>
            </a:r>
          </a:p>
        </p:txBody>
      </p:sp>
      <p:sp>
        <p:nvSpPr>
          <p:cNvPr name="AutoShape 33" id="33"/>
          <p:cNvSpPr/>
          <p:nvPr/>
        </p:nvSpPr>
        <p:spPr>
          <a:xfrm rot="134100">
            <a:off x="10221249" y="5398770"/>
            <a:ext cx="488461" cy="0"/>
          </a:xfrm>
          <a:prstGeom prst="line">
            <a:avLst/>
          </a:prstGeom>
          <a:ln cap="rnd" w="19050">
            <a:solidFill>
              <a:srgbClr val="37B5A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4" id="34"/>
          <p:cNvGrpSpPr/>
          <p:nvPr/>
        </p:nvGrpSpPr>
        <p:grpSpPr>
          <a:xfrm rot="0">
            <a:off x="10218420" y="5637057"/>
            <a:ext cx="493014" cy="493014"/>
            <a:chOff x="0" y="0"/>
            <a:chExt cx="657352" cy="657352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57352" cy="657352"/>
            </a:xfrm>
            <a:custGeom>
              <a:avLst/>
              <a:gdLst/>
              <a:ahLst/>
              <a:cxnLst/>
              <a:rect r="r" b="b" t="t" l="l"/>
              <a:pathLst>
                <a:path h="657352" w="657352">
                  <a:moveTo>
                    <a:pt x="0" y="328676"/>
                  </a:moveTo>
                  <a:cubicBezTo>
                    <a:pt x="0" y="147193"/>
                    <a:pt x="147193" y="0"/>
                    <a:pt x="328676" y="0"/>
                  </a:cubicBezTo>
                  <a:cubicBezTo>
                    <a:pt x="510159" y="0"/>
                    <a:pt x="657352" y="147193"/>
                    <a:pt x="657352" y="328676"/>
                  </a:cubicBezTo>
                  <a:cubicBezTo>
                    <a:pt x="657352" y="510159"/>
                    <a:pt x="510159" y="657352"/>
                    <a:pt x="328676" y="657352"/>
                  </a:cubicBezTo>
                  <a:cubicBezTo>
                    <a:pt x="147193" y="657352"/>
                    <a:pt x="0" y="510159"/>
                    <a:pt x="0" y="328676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1009519" y="5646782"/>
            <a:ext cx="1846259" cy="33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</a:t>
            </a:r>
          </a:p>
        </p:txBody>
      </p:sp>
      <p:sp>
        <p:nvSpPr>
          <p:cNvPr name="AutoShape 37" id="37"/>
          <p:cNvSpPr/>
          <p:nvPr/>
        </p:nvSpPr>
        <p:spPr>
          <a:xfrm rot="134100">
            <a:off x="10221249" y="6331353"/>
            <a:ext cx="488461" cy="0"/>
          </a:xfrm>
          <a:prstGeom prst="line">
            <a:avLst/>
          </a:prstGeom>
          <a:ln cap="rnd" w="19050">
            <a:solidFill>
              <a:srgbClr val="7760D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8" id="38"/>
          <p:cNvGrpSpPr/>
          <p:nvPr/>
        </p:nvGrpSpPr>
        <p:grpSpPr>
          <a:xfrm rot="0">
            <a:off x="10218420" y="6570183"/>
            <a:ext cx="493014" cy="493014"/>
            <a:chOff x="0" y="0"/>
            <a:chExt cx="657352" cy="6573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57352" cy="657352"/>
            </a:xfrm>
            <a:custGeom>
              <a:avLst/>
              <a:gdLst/>
              <a:ahLst/>
              <a:cxnLst/>
              <a:rect r="r" b="b" t="t" l="l"/>
              <a:pathLst>
                <a:path h="657352" w="657352">
                  <a:moveTo>
                    <a:pt x="0" y="328676"/>
                  </a:moveTo>
                  <a:cubicBezTo>
                    <a:pt x="0" y="147193"/>
                    <a:pt x="147193" y="0"/>
                    <a:pt x="328676" y="0"/>
                  </a:cubicBezTo>
                  <a:cubicBezTo>
                    <a:pt x="510159" y="0"/>
                    <a:pt x="657352" y="147193"/>
                    <a:pt x="657352" y="328676"/>
                  </a:cubicBezTo>
                  <a:cubicBezTo>
                    <a:pt x="657352" y="510159"/>
                    <a:pt x="510159" y="657352"/>
                    <a:pt x="328676" y="657352"/>
                  </a:cubicBezTo>
                  <a:cubicBezTo>
                    <a:pt x="147193" y="657352"/>
                    <a:pt x="0" y="510159"/>
                    <a:pt x="0" y="328676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009519" y="6579356"/>
            <a:ext cx="1846259" cy="3374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344400" y="3909060"/>
            <a:ext cx="4114257" cy="171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coordinates these responsibilities through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independent Spring Boot services behind an API Gateway.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12396311" y="6320228"/>
            <a:ext cx="3736181" cy="499396"/>
          </a:xfrm>
          <a:custGeom>
            <a:avLst/>
            <a:gdLst/>
            <a:ahLst/>
            <a:cxnLst/>
            <a:rect r="r" b="b" t="t" l="l"/>
            <a:pathLst>
              <a:path h="499396" w="3736181">
                <a:moveTo>
                  <a:pt x="0" y="0"/>
                </a:moveTo>
                <a:lnTo>
                  <a:pt x="3736182" y="0"/>
                </a:lnTo>
                <a:lnTo>
                  <a:pt x="3736182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2559322" y="6402629"/>
            <a:ext cx="3410102" cy="274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MICROSERVICE BOUNDARIES</a:t>
            </a:r>
          </a:p>
        </p:txBody>
      </p:sp>
      <p:sp>
        <p:nvSpPr>
          <p:cNvPr name="AutoShape 44" id="44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48" id="48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1540" y="7991970"/>
            <a:ext cx="2980258" cy="2980258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24760" y="-617220"/>
            <a:ext cx="3702748" cy="3702748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03 • SOLUTION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What FusionPay implements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035" y="1937699"/>
            <a:ext cx="15181383" cy="4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 complete flow from Angular UI to service-level persistence.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508760" y="2770737"/>
            <a:ext cx="2468308" cy="34004"/>
            <a:chOff x="0" y="0"/>
            <a:chExt cx="3291078" cy="4533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3291078" cy="45339"/>
            </a:xfrm>
            <a:custGeom>
              <a:avLst/>
              <a:gdLst/>
              <a:ahLst/>
              <a:cxnLst/>
              <a:rect r="r" b="b" t="t" l="l"/>
              <a:pathLst>
                <a:path h="45339" w="3291078">
                  <a:moveTo>
                    <a:pt x="0" y="0"/>
                  </a:moveTo>
                  <a:lnTo>
                    <a:pt x="3291078" y="0"/>
                  </a:lnTo>
                  <a:lnTo>
                    <a:pt x="3291078" y="45339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rgbClr val="C6D2E7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28700" y="2468880"/>
            <a:ext cx="616648" cy="616648"/>
            <a:chOff x="0" y="0"/>
            <a:chExt cx="822198" cy="8221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411099"/>
                  </a:moveTo>
                  <a:cubicBezTo>
                    <a:pt x="0" y="184023"/>
                    <a:pt x="184023" y="0"/>
                    <a:pt x="411099" y="0"/>
                  </a:cubicBezTo>
                  <a:cubicBezTo>
                    <a:pt x="638175" y="0"/>
                    <a:pt x="822198" y="184023"/>
                    <a:pt x="822198" y="411099"/>
                  </a:cubicBezTo>
                  <a:cubicBezTo>
                    <a:pt x="822198" y="638175"/>
                    <a:pt x="638175" y="822198"/>
                    <a:pt x="411099" y="822198"/>
                  </a:cubicBezTo>
                  <a:cubicBezTo>
                    <a:pt x="184023" y="822198"/>
                    <a:pt x="0" y="638175"/>
                    <a:pt x="0" y="411099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18702" y="2576913"/>
            <a:ext cx="436683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12962" y="3268256"/>
            <a:ext cx="2219763" cy="59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Register / Login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4594860" y="2770737"/>
            <a:ext cx="2468308" cy="34004"/>
            <a:chOff x="0" y="0"/>
            <a:chExt cx="3291078" cy="4533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291078" cy="45339"/>
            </a:xfrm>
            <a:custGeom>
              <a:avLst/>
              <a:gdLst/>
              <a:ahLst/>
              <a:cxnLst/>
              <a:rect r="r" b="b" t="t" l="l"/>
              <a:pathLst>
                <a:path h="45339" w="3291078">
                  <a:moveTo>
                    <a:pt x="0" y="0"/>
                  </a:moveTo>
                  <a:lnTo>
                    <a:pt x="3291078" y="0"/>
                  </a:lnTo>
                  <a:lnTo>
                    <a:pt x="3291078" y="45339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rgbClr val="C6D2E7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4114800" y="2468880"/>
            <a:ext cx="616648" cy="616648"/>
            <a:chOff x="0" y="0"/>
            <a:chExt cx="822198" cy="8221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411099"/>
                  </a:moveTo>
                  <a:cubicBezTo>
                    <a:pt x="0" y="184023"/>
                    <a:pt x="184023" y="0"/>
                    <a:pt x="411099" y="0"/>
                  </a:cubicBezTo>
                  <a:cubicBezTo>
                    <a:pt x="638175" y="0"/>
                    <a:pt x="822198" y="184023"/>
                    <a:pt x="822198" y="411099"/>
                  </a:cubicBezTo>
                  <a:cubicBezTo>
                    <a:pt x="822198" y="638175"/>
                    <a:pt x="638175" y="822198"/>
                    <a:pt x="411099" y="822198"/>
                  </a:cubicBezTo>
                  <a:cubicBezTo>
                    <a:pt x="184023" y="822198"/>
                    <a:pt x="0" y="638175"/>
                    <a:pt x="0" y="411099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204802" y="2576913"/>
            <a:ext cx="436683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2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999062" y="3268256"/>
            <a:ext cx="2219763" cy="59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Browse Products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680960" y="2770737"/>
            <a:ext cx="2468308" cy="34004"/>
            <a:chOff x="0" y="0"/>
            <a:chExt cx="3291078" cy="4533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3291078" cy="45339"/>
            </a:xfrm>
            <a:custGeom>
              <a:avLst/>
              <a:gdLst/>
              <a:ahLst/>
              <a:cxnLst/>
              <a:rect r="r" b="b" t="t" l="l"/>
              <a:pathLst>
                <a:path h="45339" w="3291078">
                  <a:moveTo>
                    <a:pt x="0" y="0"/>
                  </a:moveTo>
                  <a:lnTo>
                    <a:pt x="3291078" y="0"/>
                  </a:lnTo>
                  <a:lnTo>
                    <a:pt x="3291078" y="45339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rgbClr val="C6D2E7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200900" y="2468880"/>
            <a:ext cx="616648" cy="616648"/>
            <a:chOff x="0" y="0"/>
            <a:chExt cx="822198" cy="82219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411099"/>
                  </a:moveTo>
                  <a:cubicBezTo>
                    <a:pt x="0" y="184023"/>
                    <a:pt x="184023" y="0"/>
                    <a:pt x="411099" y="0"/>
                  </a:cubicBezTo>
                  <a:cubicBezTo>
                    <a:pt x="638175" y="0"/>
                    <a:pt x="822198" y="184023"/>
                    <a:pt x="822198" y="411099"/>
                  </a:cubicBezTo>
                  <a:cubicBezTo>
                    <a:pt x="822198" y="638175"/>
                    <a:pt x="638175" y="822198"/>
                    <a:pt x="411099" y="822198"/>
                  </a:cubicBezTo>
                  <a:cubicBezTo>
                    <a:pt x="184023" y="822198"/>
                    <a:pt x="0" y="638175"/>
                    <a:pt x="0" y="411099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7290902" y="2576913"/>
            <a:ext cx="436683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85162" y="3268256"/>
            <a:ext cx="2219763" cy="59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Select EMI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767060" y="2770737"/>
            <a:ext cx="2468308" cy="34004"/>
            <a:chOff x="0" y="0"/>
            <a:chExt cx="3291078" cy="453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291078" cy="45339"/>
            </a:xfrm>
            <a:custGeom>
              <a:avLst/>
              <a:gdLst/>
              <a:ahLst/>
              <a:cxnLst/>
              <a:rect r="r" b="b" t="t" l="l"/>
              <a:pathLst>
                <a:path h="45339" w="3291078">
                  <a:moveTo>
                    <a:pt x="0" y="0"/>
                  </a:moveTo>
                  <a:lnTo>
                    <a:pt x="3291078" y="0"/>
                  </a:lnTo>
                  <a:lnTo>
                    <a:pt x="3291078" y="45339"/>
                  </a:lnTo>
                  <a:lnTo>
                    <a:pt x="0" y="45339"/>
                  </a:lnTo>
                  <a:close/>
                </a:path>
              </a:pathLst>
            </a:custGeom>
            <a:solidFill>
              <a:srgbClr val="C6D2E7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0287000" y="2468880"/>
            <a:ext cx="616648" cy="616648"/>
            <a:chOff x="0" y="0"/>
            <a:chExt cx="822198" cy="82219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411099"/>
                  </a:moveTo>
                  <a:cubicBezTo>
                    <a:pt x="0" y="184023"/>
                    <a:pt x="184023" y="0"/>
                    <a:pt x="411099" y="0"/>
                  </a:cubicBezTo>
                  <a:cubicBezTo>
                    <a:pt x="638175" y="0"/>
                    <a:pt x="822198" y="184023"/>
                    <a:pt x="822198" y="411099"/>
                  </a:cubicBezTo>
                  <a:cubicBezTo>
                    <a:pt x="822198" y="638175"/>
                    <a:pt x="638175" y="822198"/>
                    <a:pt x="411099" y="822198"/>
                  </a:cubicBezTo>
                  <a:cubicBezTo>
                    <a:pt x="184023" y="822198"/>
                    <a:pt x="0" y="638175"/>
                    <a:pt x="0" y="411099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0377002" y="2576913"/>
            <a:ext cx="436683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4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71262" y="3268256"/>
            <a:ext cx="2219763" cy="59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Create Purchase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3373100" y="2468880"/>
            <a:ext cx="616648" cy="616648"/>
            <a:chOff x="0" y="0"/>
            <a:chExt cx="822198" cy="82219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22198" cy="822198"/>
            </a:xfrm>
            <a:custGeom>
              <a:avLst/>
              <a:gdLst/>
              <a:ahLst/>
              <a:cxnLst/>
              <a:rect r="r" b="b" t="t" l="l"/>
              <a:pathLst>
                <a:path h="822198" w="822198">
                  <a:moveTo>
                    <a:pt x="0" y="411099"/>
                  </a:moveTo>
                  <a:cubicBezTo>
                    <a:pt x="0" y="184023"/>
                    <a:pt x="184023" y="0"/>
                    <a:pt x="411099" y="0"/>
                  </a:cubicBezTo>
                  <a:cubicBezTo>
                    <a:pt x="638175" y="0"/>
                    <a:pt x="822198" y="184023"/>
                    <a:pt x="822198" y="411099"/>
                  </a:cubicBezTo>
                  <a:cubicBezTo>
                    <a:pt x="822198" y="638175"/>
                    <a:pt x="638175" y="822198"/>
                    <a:pt x="411099" y="822198"/>
                  </a:cubicBezTo>
                  <a:cubicBezTo>
                    <a:pt x="184023" y="822198"/>
                    <a:pt x="0" y="638175"/>
                    <a:pt x="0" y="411099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3463102" y="2576913"/>
            <a:ext cx="436683" cy="23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257362" y="3268256"/>
            <a:ext cx="2219763" cy="595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Track Purchase</a:t>
            </a:r>
          </a:p>
        </p:txBody>
      </p:sp>
      <p:sp>
        <p:nvSpPr>
          <p:cNvPr name="Freeform 37" id="37"/>
          <p:cNvSpPr/>
          <p:nvPr/>
        </p:nvSpPr>
        <p:spPr>
          <a:xfrm flipH="false" flipV="false" rot="0">
            <a:off x="741874" y="4308034"/>
            <a:ext cx="5373672" cy="2836212"/>
          </a:xfrm>
          <a:custGeom>
            <a:avLst/>
            <a:gdLst/>
            <a:ahLst/>
            <a:cxnLst/>
            <a:rect r="r" b="b" t="t" l="l"/>
            <a:pathLst>
              <a:path h="2836212" w="5373672">
                <a:moveTo>
                  <a:pt x="0" y="0"/>
                </a:moveTo>
                <a:lnTo>
                  <a:pt x="5373671" y="0"/>
                </a:lnTo>
                <a:lnTo>
                  <a:pt x="5373671" y="2836211"/>
                </a:lnTo>
                <a:lnTo>
                  <a:pt x="0" y="2836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754380" y="4320540"/>
            <a:ext cx="5348668" cy="95536"/>
            <a:chOff x="0" y="0"/>
            <a:chExt cx="7131558" cy="12738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31558" cy="127381"/>
            </a:xfrm>
            <a:custGeom>
              <a:avLst/>
              <a:gdLst/>
              <a:ahLst/>
              <a:cxnLst/>
              <a:rect r="r" b="b" t="t" l="l"/>
              <a:pathLst>
                <a:path h="127381" w="7131558">
                  <a:moveTo>
                    <a:pt x="0" y="0"/>
                  </a:moveTo>
                  <a:lnTo>
                    <a:pt x="7131558" y="0"/>
                  </a:lnTo>
                  <a:lnTo>
                    <a:pt x="713155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146238" y="4749479"/>
            <a:ext cx="456498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Frontend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146238" y="5435279"/>
            <a:ext cx="4564980" cy="141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Angular + Router + Forms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HttpClient for REST calls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Responsive UI and auth guards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6461550" y="4308034"/>
            <a:ext cx="5373672" cy="2836212"/>
          </a:xfrm>
          <a:custGeom>
            <a:avLst/>
            <a:gdLst/>
            <a:ahLst/>
            <a:cxnLst/>
            <a:rect r="r" b="b" t="t" l="l"/>
            <a:pathLst>
              <a:path h="2836212" w="5373672">
                <a:moveTo>
                  <a:pt x="0" y="0"/>
                </a:moveTo>
                <a:lnTo>
                  <a:pt x="5373672" y="0"/>
                </a:lnTo>
                <a:lnTo>
                  <a:pt x="5373672" y="2836211"/>
                </a:lnTo>
                <a:lnTo>
                  <a:pt x="0" y="2836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3" id="43"/>
          <p:cNvGrpSpPr/>
          <p:nvPr/>
        </p:nvGrpSpPr>
        <p:grpSpPr>
          <a:xfrm rot="0">
            <a:off x="6474057" y="4320540"/>
            <a:ext cx="5348668" cy="95536"/>
            <a:chOff x="0" y="0"/>
            <a:chExt cx="7131558" cy="12738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131558" cy="127381"/>
            </a:xfrm>
            <a:custGeom>
              <a:avLst/>
              <a:gdLst/>
              <a:ahLst/>
              <a:cxnLst/>
              <a:rect r="r" b="b" t="t" l="l"/>
              <a:pathLst>
                <a:path h="127381" w="7131558">
                  <a:moveTo>
                    <a:pt x="0" y="0"/>
                  </a:moveTo>
                  <a:lnTo>
                    <a:pt x="7131558" y="0"/>
                  </a:lnTo>
                  <a:lnTo>
                    <a:pt x="713155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45" id="45"/>
          <p:cNvSpPr txBox="true"/>
          <p:nvPr/>
        </p:nvSpPr>
        <p:spPr>
          <a:xfrm rot="0">
            <a:off x="6865915" y="4749479"/>
            <a:ext cx="456498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Backend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865915" y="5435279"/>
            <a:ext cx="4564980" cy="141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Spring Boot 3 REST APIs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Spring Data JPA + Validation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OpenFeign for service calls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12181237" y="4308034"/>
            <a:ext cx="5373672" cy="2836212"/>
          </a:xfrm>
          <a:custGeom>
            <a:avLst/>
            <a:gdLst/>
            <a:ahLst/>
            <a:cxnLst/>
            <a:rect r="r" b="b" t="t" l="l"/>
            <a:pathLst>
              <a:path h="2836212" w="5373672">
                <a:moveTo>
                  <a:pt x="0" y="0"/>
                </a:moveTo>
                <a:lnTo>
                  <a:pt x="5373671" y="0"/>
                </a:lnTo>
                <a:lnTo>
                  <a:pt x="5373671" y="2836211"/>
                </a:lnTo>
                <a:lnTo>
                  <a:pt x="0" y="283621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2193743" y="4320540"/>
            <a:ext cx="5348668" cy="95536"/>
            <a:chOff x="0" y="0"/>
            <a:chExt cx="7131558" cy="12738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7131558" cy="127381"/>
            </a:xfrm>
            <a:custGeom>
              <a:avLst/>
              <a:gdLst/>
              <a:ahLst/>
              <a:cxnLst/>
              <a:rect r="r" b="b" t="t" l="l"/>
              <a:pathLst>
                <a:path h="127381" w="7131558">
                  <a:moveTo>
                    <a:pt x="0" y="0"/>
                  </a:moveTo>
                  <a:lnTo>
                    <a:pt x="7131558" y="0"/>
                  </a:lnTo>
                  <a:lnTo>
                    <a:pt x="713155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50" id="50"/>
          <p:cNvSpPr txBox="true"/>
          <p:nvPr/>
        </p:nvSpPr>
        <p:spPr>
          <a:xfrm rot="0">
            <a:off x="12585059" y="4749479"/>
            <a:ext cx="456498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Persistence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585059" y="5435279"/>
            <a:ext cx="4564980" cy="1418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MySQL database per service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Repository layer</a:t>
            </a:r>
          </a:p>
          <a:p>
            <a:pPr algn="l">
              <a:lnSpc>
                <a:spcPts val="1764"/>
              </a:lnSpc>
            </a:pPr>
            <a:r>
              <a:rPr lang="en-US" sz="147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HeidiSQL for database work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645920" y="7749540"/>
            <a:ext cx="14812737" cy="6166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The implemented flow connects user identity, product selection, purchase creation and finance tracking.</a:t>
            </a:r>
          </a:p>
        </p:txBody>
      </p:sp>
      <p:grpSp>
        <p:nvGrpSpPr>
          <p:cNvPr name="Group 53" id="53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55" id="55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58" id="58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128264"/>
            <a:ext cx="2843965" cy="2843965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634054" y="-480060"/>
            <a:ext cx="3270775" cy="3270775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04 • ARCHITECTURE CHOICE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Monolith vs. FusionPay's service boundaries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Why the project uses independent services for core responsibilities.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0988" y="2383631"/>
            <a:ext cx="7850981" cy="6547961"/>
          </a:xfrm>
          <a:custGeom>
            <a:avLst/>
            <a:gdLst/>
            <a:ahLst/>
            <a:cxnLst/>
            <a:rect r="r" b="b" t="t" l="l"/>
            <a:pathLst>
              <a:path h="6547961" w="7850981">
                <a:moveTo>
                  <a:pt x="0" y="0"/>
                </a:moveTo>
                <a:lnTo>
                  <a:pt x="7850981" y="0"/>
                </a:lnTo>
                <a:lnTo>
                  <a:pt x="7850981" y="6547962"/>
                </a:lnTo>
                <a:lnTo>
                  <a:pt x="0" y="654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70988" y="2383631"/>
            <a:ext cx="7850981" cy="883349"/>
          </a:xfrm>
          <a:custGeom>
            <a:avLst/>
            <a:gdLst/>
            <a:ahLst/>
            <a:cxnLst/>
            <a:rect r="r" b="b" t="t" l="l"/>
            <a:pathLst>
              <a:path h="883349" w="7850981">
                <a:moveTo>
                  <a:pt x="0" y="0"/>
                </a:moveTo>
                <a:lnTo>
                  <a:pt x="7850981" y="0"/>
                </a:lnTo>
                <a:lnTo>
                  <a:pt x="7850981" y="883349"/>
                </a:lnTo>
                <a:lnTo>
                  <a:pt x="0" y="8833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80782" y="2656256"/>
            <a:ext cx="4040819" cy="2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67748B"/>
                </a:solidFill>
                <a:latin typeface="Aptos Bold"/>
                <a:ea typeface="Aptos Bold"/>
                <a:cs typeface="Aptos Bold"/>
                <a:sym typeface="Aptos Bold"/>
              </a:rPr>
              <a:t>TRADITIONAL MONOLITH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5856" y="3630416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Modules tightly coupled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99137" y="4032723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Changes can span the same deployment unit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35856" y="4755242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Shared application boundary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99137" y="5156997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Scaling is not isolated by business function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35856" y="5879516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Larger failure surface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99137" y="6281823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 failure can affect more of the application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35856" y="7004342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Single deployment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399137" y="7406640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Services cannot be deployed independently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9474908" y="2383631"/>
            <a:ext cx="7850981" cy="6547961"/>
          </a:xfrm>
          <a:custGeom>
            <a:avLst/>
            <a:gdLst/>
            <a:ahLst/>
            <a:cxnLst/>
            <a:rect r="r" b="b" t="t" l="l"/>
            <a:pathLst>
              <a:path h="6547961" w="7850981">
                <a:moveTo>
                  <a:pt x="0" y="0"/>
                </a:moveTo>
                <a:lnTo>
                  <a:pt x="7850981" y="0"/>
                </a:lnTo>
                <a:lnTo>
                  <a:pt x="7850981" y="6547962"/>
                </a:lnTo>
                <a:lnTo>
                  <a:pt x="0" y="65479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474908" y="2383631"/>
            <a:ext cx="7850981" cy="883349"/>
          </a:xfrm>
          <a:custGeom>
            <a:avLst/>
            <a:gdLst/>
            <a:ahLst/>
            <a:cxnLst/>
            <a:rect r="r" b="b" t="t" l="l"/>
            <a:pathLst>
              <a:path h="883349" w="7850981">
                <a:moveTo>
                  <a:pt x="0" y="0"/>
                </a:moveTo>
                <a:lnTo>
                  <a:pt x="7850981" y="0"/>
                </a:lnTo>
                <a:lnTo>
                  <a:pt x="7850981" y="883349"/>
                </a:lnTo>
                <a:lnTo>
                  <a:pt x="0" y="883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884702" y="2656256"/>
            <a:ext cx="4589459" cy="2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FUSIONPAY MICROSERVICES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939776" y="3630416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Independent services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903057" y="4032723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User, Product, Finance and Admin have clear responsibilities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9939776" y="4755242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Independent scaling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903057" y="5156997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Each service is a separate runtime component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939776" y="5879516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Service discovery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903057" y="6281823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Eureka registers and discovers services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939776" y="7004342"/>
            <a:ext cx="664685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40"/>
              </a:lnSpc>
            </a:pPr>
            <a:r>
              <a:rPr lang="en-US" sz="19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API-based communication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903057" y="7406640"/>
            <a:ext cx="672029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44"/>
              </a:lnSpc>
            </a:pPr>
            <a:r>
              <a:rPr lang="en-US" sz="162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Gateway routes requests; OpenFeign connects services</a:t>
            </a:r>
          </a:p>
        </p:txBody>
      </p:sp>
      <p:sp>
        <p:nvSpPr>
          <p:cNvPr name="AutoShape 31" id="31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888271" y="622078"/>
            <a:ext cx="2399728" cy="1110234"/>
            <a:chOff x="0" y="0"/>
            <a:chExt cx="3199638" cy="1480312"/>
          </a:xfrm>
        </p:grpSpPr>
        <p:sp>
          <p:nvSpPr>
            <p:cNvPr name="Freeform 35" id="35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139017"/>
            <a:ext cx="2833211" cy="2833211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523616" y="-480060"/>
            <a:ext cx="3381213" cy="3381213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05 • USER FLOW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 purchase journey through the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The implemented Angular routes and backend services support this end-to-end path.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74871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3" y="0"/>
                </a:lnTo>
                <a:lnTo>
                  <a:pt x="2392013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056237" y="3072603"/>
            <a:ext cx="520541" cy="520541"/>
            <a:chOff x="0" y="0"/>
            <a:chExt cx="694055" cy="69405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092956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33999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Register / Login</a:t>
            </a:r>
          </a:p>
        </p:txBody>
      </p:sp>
      <p:sp>
        <p:nvSpPr>
          <p:cNvPr name="AutoShape 14" id="14"/>
          <p:cNvSpPr/>
          <p:nvPr/>
        </p:nvSpPr>
        <p:spPr>
          <a:xfrm rot="64920">
            <a:off x="3245453" y="3694062"/>
            <a:ext cx="50425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727694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4" y="0"/>
                </a:lnTo>
                <a:lnTo>
                  <a:pt x="2392014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3909060" y="3072603"/>
            <a:ext cx="520541" cy="520541"/>
            <a:chOff x="0" y="0"/>
            <a:chExt cx="694055" cy="69405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3945779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86822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Dashboard</a:t>
            </a:r>
          </a:p>
        </p:txBody>
      </p:sp>
      <p:sp>
        <p:nvSpPr>
          <p:cNvPr name="AutoShape 20" id="20"/>
          <p:cNvSpPr/>
          <p:nvPr/>
        </p:nvSpPr>
        <p:spPr>
          <a:xfrm rot="64980">
            <a:off x="6098810" y="3694062"/>
            <a:ext cx="503711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1" id="21"/>
          <p:cNvSpPr/>
          <p:nvPr/>
        </p:nvSpPr>
        <p:spPr>
          <a:xfrm flipH="false" flipV="false" rot="0">
            <a:off x="6580508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3" y="0"/>
                </a:lnTo>
                <a:lnTo>
                  <a:pt x="2392013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6761883" y="3072603"/>
            <a:ext cx="520541" cy="520541"/>
            <a:chOff x="0" y="0"/>
            <a:chExt cx="694055" cy="694055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6798602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839636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Products</a:t>
            </a:r>
          </a:p>
        </p:txBody>
      </p:sp>
      <p:sp>
        <p:nvSpPr>
          <p:cNvPr name="AutoShape 26" id="26"/>
          <p:cNvSpPr/>
          <p:nvPr/>
        </p:nvSpPr>
        <p:spPr>
          <a:xfrm rot="64980">
            <a:off x="8951633" y="3694062"/>
            <a:ext cx="503711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7" id="27"/>
          <p:cNvSpPr/>
          <p:nvPr/>
        </p:nvSpPr>
        <p:spPr>
          <a:xfrm flipH="false" flipV="false" rot="0">
            <a:off x="9433874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4" y="0"/>
                </a:lnTo>
                <a:lnTo>
                  <a:pt x="2392014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9614697" y="3072603"/>
            <a:ext cx="520541" cy="520541"/>
            <a:chOff x="0" y="0"/>
            <a:chExt cx="694055" cy="69405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51416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93002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Details</a:t>
            </a:r>
          </a:p>
        </p:txBody>
      </p:sp>
      <p:sp>
        <p:nvSpPr>
          <p:cNvPr name="AutoShape 32" id="32"/>
          <p:cNvSpPr/>
          <p:nvPr/>
        </p:nvSpPr>
        <p:spPr>
          <a:xfrm rot="64980">
            <a:off x="11804447" y="3694062"/>
            <a:ext cx="503711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3" id="33"/>
          <p:cNvSpPr/>
          <p:nvPr/>
        </p:nvSpPr>
        <p:spPr>
          <a:xfrm flipH="false" flipV="false" rot="0">
            <a:off x="12286688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3" y="0"/>
                </a:lnTo>
                <a:lnTo>
                  <a:pt x="2392013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2468063" y="3072603"/>
            <a:ext cx="520541" cy="520541"/>
            <a:chOff x="0" y="0"/>
            <a:chExt cx="694055" cy="694055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504782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545816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Purchase / Payment</a:t>
            </a:r>
          </a:p>
        </p:txBody>
      </p:sp>
      <p:sp>
        <p:nvSpPr>
          <p:cNvPr name="AutoShape 38" id="38"/>
          <p:cNvSpPr/>
          <p:nvPr/>
        </p:nvSpPr>
        <p:spPr>
          <a:xfrm rot="64920">
            <a:off x="14657270" y="3694062"/>
            <a:ext cx="50425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9" id="39"/>
          <p:cNvSpPr/>
          <p:nvPr/>
        </p:nvSpPr>
        <p:spPr>
          <a:xfrm flipH="false" flipV="false" rot="0">
            <a:off x="15139511" y="2863691"/>
            <a:ext cx="2392013" cy="1678686"/>
          </a:xfrm>
          <a:custGeom>
            <a:avLst/>
            <a:gdLst/>
            <a:ahLst/>
            <a:cxnLst/>
            <a:rect r="r" b="b" t="t" l="l"/>
            <a:pathLst>
              <a:path h="1678686" w="2392013">
                <a:moveTo>
                  <a:pt x="0" y="0"/>
                </a:moveTo>
                <a:lnTo>
                  <a:pt x="2392014" y="0"/>
                </a:lnTo>
                <a:lnTo>
                  <a:pt x="2392014" y="1678686"/>
                </a:lnTo>
                <a:lnTo>
                  <a:pt x="0" y="16786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5320877" y="3072603"/>
            <a:ext cx="520541" cy="520541"/>
            <a:chOff x="0" y="0"/>
            <a:chExt cx="694055" cy="694055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94055" cy="694055"/>
            </a:xfrm>
            <a:custGeom>
              <a:avLst/>
              <a:gdLst/>
              <a:ahLst/>
              <a:cxnLst/>
              <a:rect r="r" b="b" t="t" l="l"/>
              <a:pathLst>
                <a:path h="694055" w="694055">
                  <a:moveTo>
                    <a:pt x="0" y="347091"/>
                  </a:moveTo>
                  <a:cubicBezTo>
                    <a:pt x="0" y="155321"/>
                    <a:pt x="155321" y="0"/>
                    <a:pt x="347091" y="0"/>
                  </a:cubicBezTo>
                  <a:cubicBezTo>
                    <a:pt x="538861" y="0"/>
                    <a:pt x="694055" y="155321"/>
                    <a:pt x="694055" y="347091"/>
                  </a:cubicBezTo>
                  <a:cubicBezTo>
                    <a:pt x="694055" y="538861"/>
                    <a:pt x="538734" y="694055"/>
                    <a:pt x="347091" y="694055"/>
                  </a:cubicBezTo>
                  <a:cubicBezTo>
                    <a:pt x="155448" y="694055"/>
                    <a:pt x="0" y="538734"/>
                    <a:pt x="0" y="347091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5357596" y="3240929"/>
            <a:ext cx="447123" cy="2193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 b="true">
                <a:solidFill>
                  <a:srgbClr val="FFFFFF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5398639" y="3767576"/>
            <a:ext cx="1873796" cy="447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Transactions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012031" y="5675471"/>
            <a:ext cx="5176266" cy="2158746"/>
          </a:xfrm>
          <a:custGeom>
            <a:avLst/>
            <a:gdLst/>
            <a:ahLst/>
            <a:cxnLst/>
            <a:rect r="r" b="b" t="t" l="l"/>
            <a:pathLst>
              <a:path h="2158746" w="5176266">
                <a:moveTo>
                  <a:pt x="0" y="0"/>
                </a:moveTo>
                <a:lnTo>
                  <a:pt x="5176266" y="0"/>
                </a:lnTo>
                <a:lnTo>
                  <a:pt x="517626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449362" y="6093752"/>
            <a:ext cx="349217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Account &amp; recovery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12643" y="6611217"/>
            <a:ext cx="4114257" cy="106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Registration • login • forgot password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OTP send / verify • change password</a:t>
            </a:r>
          </a:p>
        </p:txBody>
      </p:sp>
      <p:sp>
        <p:nvSpPr>
          <p:cNvPr name="Freeform 47" id="47"/>
          <p:cNvSpPr/>
          <p:nvPr/>
        </p:nvSpPr>
        <p:spPr>
          <a:xfrm flipH="false" flipV="false" rot="0">
            <a:off x="6567011" y="5675471"/>
            <a:ext cx="5176266" cy="2158746"/>
          </a:xfrm>
          <a:custGeom>
            <a:avLst/>
            <a:gdLst/>
            <a:ahLst/>
            <a:cxnLst/>
            <a:rect r="r" b="b" t="t" l="l"/>
            <a:pathLst>
              <a:path h="2158746" w="5176266">
                <a:moveTo>
                  <a:pt x="0" y="0"/>
                </a:moveTo>
                <a:lnTo>
                  <a:pt x="5176266" y="0"/>
                </a:lnTo>
                <a:lnTo>
                  <a:pt x="517626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8" id="48"/>
          <p:cNvSpPr txBox="true"/>
          <p:nvPr/>
        </p:nvSpPr>
        <p:spPr>
          <a:xfrm rot="0">
            <a:off x="7004342" y="6093752"/>
            <a:ext cx="349217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Shopping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6967623" y="6611217"/>
            <a:ext cx="4114257" cy="106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Search • category filter • product details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purchase • automatic stock update</a:t>
            </a:r>
          </a:p>
        </p:txBody>
      </p:sp>
      <p:sp>
        <p:nvSpPr>
          <p:cNvPr name="Freeform 50" id="50"/>
          <p:cNvSpPr/>
          <p:nvPr/>
        </p:nvSpPr>
        <p:spPr>
          <a:xfrm flipH="false" flipV="false" rot="0">
            <a:off x="12121991" y="5675471"/>
            <a:ext cx="5176266" cy="2158746"/>
          </a:xfrm>
          <a:custGeom>
            <a:avLst/>
            <a:gdLst/>
            <a:ahLst/>
            <a:cxnLst/>
            <a:rect r="r" b="b" t="t" l="l"/>
            <a:pathLst>
              <a:path h="2158746" w="5176266">
                <a:moveTo>
                  <a:pt x="0" y="0"/>
                </a:moveTo>
                <a:lnTo>
                  <a:pt x="5176266" y="0"/>
                </a:lnTo>
                <a:lnTo>
                  <a:pt x="5176266" y="2158746"/>
                </a:lnTo>
                <a:lnTo>
                  <a:pt x="0" y="21587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2559322" y="6093752"/>
            <a:ext cx="349217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 view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522603" y="6611217"/>
            <a:ext cx="4114257" cy="1069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EMI calculation • purchase history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purchase status • tracking</a:t>
            </a:r>
          </a:p>
        </p:txBody>
      </p:sp>
      <p:sp>
        <p:nvSpPr>
          <p:cNvPr name="AutoShape 53" id="53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56" id="56"/>
          <p:cNvGrpSpPr/>
          <p:nvPr/>
        </p:nvGrpSpPr>
        <p:grpSpPr>
          <a:xfrm rot="0">
            <a:off x="15841418" y="793699"/>
            <a:ext cx="2399728" cy="1110234"/>
            <a:chOff x="0" y="0"/>
            <a:chExt cx="3199638" cy="1480312"/>
          </a:xfrm>
        </p:grpSpPr>
        <p:sp>
          <p:nvSpPr>
            <p:cNvPr name="Freeform 57" id="57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019002"/>
            <a:ext cx="2953226" cy="2953226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670259" y="-480060"/>
            <a:ext cx="3234571" cy="3234571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06 • 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The runtime topology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Exact project components and ports from the project structure.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217771" y="2246471"/>
            <a:ext cx="15874746" cy="1130046"/>
          </a:xfrm>
          <a:custGeom>
            <a:avLst/>
            <a:gdLst/>
            <a:ahLst/>
            <a:cxnLst/>
            <a:rect r="r" b="b" t="t" l="l"/>
            <a:pathLst>
              <a:path h="1130046" w="15874746">
                <a:moveTo>
                  <a:pt x="0" y="0"/>
                </a:moveTo>
                <a:lnTo>
                  <a:pt x="15874746" y="0"/>
                </a:lnTo>
                <a:lnTo>
                  <a:pt x="15874746" y="1130046"/>
                </a:lnTo>
                <a:lnTo>
                  <a:pt x="0" y="11300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614059" y="2601716"/>
            <a:ext cx="1983419" cy="2689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CLIENT LAYER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4166711" y="2520791"/>
            <a:ext cx="4421981" cy="499396"/>
          </a:xfrm>
          <a:custGeom>
            <a:avLst/>
            <a:gdLst/>
            <a:ahLst/>
            <a:cxnLst/>
            <a:rect r="r" b="b" t="t" l="l"/>
            <a:pathLst>
              <a:path h="499396" w="4421981">
                <a:moveTo>
                  <a:pt x="0" y="0"/>
                </a:moveTo>
                <a:lnTo>
                  <a:pt x="4421981" y="0"/>
                </a:lnTo>
                <a:lnTo>
                  <a:pt x="442198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93003" y="2585523"/>
            <a:ext cx="4169340" cy="3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Angular Frontend • localhost:4200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361271" y="3892391"/>
            <a:ext cx="5519166" cy="1130046"/>
          </a:xfrm>
          <a:custGeom>
            <a:avLst/>
            <a:gdLst/>
            <a:ahLst/>
            <a:cxnLst/>
            <a:rect r="r" b="b" t="t" l="l"/>
            <a:pathLst>
              <a:path h="1130046" w="5519166">
                <a:moveTo>
                  <a:pt x="0" y="0"/>
                </a:moveTo>
                <a:lnTo>
                  <a:pt x="5519166" y="0"/>
                </a:lnTo>
                <a:lnTo>
                  <a:pt x="5519166" y="1130046"/>
                </a:lnTo>
                <a:lnTo>
                  <a:pt x="0" y="11300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414659" y="4179056"/>
            <a:ext cx="541241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API GATEWAY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377940" y="4581363"/>
            <a:ext cx="54858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8080 • single entry point • request routing</a:t>
            </a:r>
          </a:p>
        </p:txBody>
      </p:sp>
      <p:sp>
        <p:nvSpPr>
          <p:cNvPr name="AutoShape 16" id="16"/>
          <p:cNvSpPr/>
          <p:nvPr/>
        </p:nvSpPr>
        <p:spPr>
          <a:xfrm rot="58620">
            <a:off x="8842019" y="3625482"/>
            <a:ext cx="558794" cy="0"/>
          </a:xfrm>
          <a:prstGeom prst="line">
            <a:avLst/>
          </a:prstGeom>
          <a:ln cap="rnd" w="9525">
            <a:solidFill>
              <a:srgbClr val="4870D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970988" y="5675471"/>
            <a:ext cx="3736086" cy="1610106"/>
          </a:xfrm>
          <a:custGeom>
            <a:avLst/>
            <a:gdLst/>
            <a:ahLst/>
            <a:cxnLst/>
            <a:rect r="r" b="b" t="t" l="l"/>
            <a:pathLst>
              <a:path h="1610106" w="3736086">
                <a:moveTo>
                  <a:pt x="0" y="0"/>
                </a:moveTo>
                <a:lnTo>
                  <a:pt x="3736086" y="0"/>
                </a:lnTo>
                <a:lnTo>
                  <a:pt x="3736086" y="1610106"/>
                </a:lnTo>
                <a:lnTo>
                  <a:pt x="0" y="1610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70988" y="5675471"/>
            <a:ext cx="3736086" cy="197453"/>
            <a:chOff x="0" y="0"/>
            <a:chExt cx="4981448" cy="263271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981448" cy="263271"/>
            </a:xfrm>
            <a:custGeom>
              <a:avLst/>
              <a:gdLst/>
              <a:ahLst/>
              <a:cxnLst/>
              <a:rect r="r" b="b" t="t" l="l"/>
              <a:pathLst>
                <a:path h="263271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263271"/>
                  </a:lnTo>
                  <a:lnTo>
                    <a:pt x="0" y="263271"/>
                  </a:lnTo>
                  <a:close/>
                </a:path>
              </a:pathLst>
            </a:custGeom>
            <a:solidFill>
              <a:srgbClr val="4870D6"/>
            </a:solidFill>
            <a:ln w="19050" cap="sq">
              <a:solidFill>
                <a:srgbClr val="4870D6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189082" y="6099296"/>
            <a:ext cx="328643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 SERVICE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89082" y="6606902"/>
            <a:ext cx="3286439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8081</a:t>
            </a:r>
          </a:p>
        </p:txBody>
      </p:sp>
      <p:sp>
        <p:nvSpPr>
          <p:cNvPr name="AutoShape 22" id="22"/>
          <p:cNvSpPr/>
          <p:nvPr/>
        </p:nvSpPr>
        <p:spPr>
          <a:xfrm rot="5160">
            <a:off x="2800607" y="5339982"/>
            <a:ext cx="6359261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3" id="23"/>
          <p:cNvSpPr/>
          <p:nvPr/>
        </p:nvSpPr>
        <p:spPr>
          <a:xfrm flipH="false" flipV="false" rot="0">
            <a:off x="5250494" y="5675471"/>
            <a:ext cx="3736086" cy="1610106"/>
          </a:xfrm>
          <a:custGeom>
            <a:avLst/>
            <a:gdLst/>
            <a:ahLst/>
            <a:cxnLst/>
            <a:rect r="r" b="b" t="t" l="l"/>
            <a:pathLst>
              <a:path h="1610106" w="3736086">
                <a:moveTo>
                  <a:pt x="0" y="0"/>
                </a:moveTo>
                <a:lnTo>
                  <a:pt x="3736086" y="0"/>
                </a:lnTo>
                <a:lnTo>
                  <a:pt x="3736086" y="1610106"/>
                </a:lnTo>
                <a:lnTo>
                  <a:pt x="0" y="1610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5250494" y="5675471"/>
            <a:ext cx="3736086" cy="197453"/>
            <a:chOff x="0" y="0"/>
            <a:chExt cx="4981448" cy="2632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981448" cy="263271"/>
            </a:xfrm>
            <a:custGeom>
              <a:avLst/>
              <a:gdLst/>
              <a:ahLst/>
              <a:cxnLst/>
              <a:rect r="r" b="b" t="t" l="l"/>
              <a:pathLst>
                <a:path h="263271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263271"/>
                  </a:lnTo>
                  <a:lnTo>
                    <a:pt x="0" y="263271"/>
                  </a:lnTo>
                  <a:close/>
                </a:path>
              </a:pathLst>
            </a:custGeom>
            <a:solidFill>
              <a:srgbClr val="37B5AA"/>
            </a:solidFill>
            <a:ln w="19050" cap="sq">
              <a:solidFill>
                <a:srgbClr val="37B5AA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5468036" y="6099296"/>
            <a:ext cx="328643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SERVICE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468036" y="6606902"/>
            <a:ext cx="3286439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8082</a:t>
            </a:r>
          </a:p>
        </p:txBody>
      </p:sp>
      <p:sp>
        <p:nvSpPr>
          <p:cNvPr name="AutoShape 28" id="28"/>
          <p:cNvSpPr/>
          <p:nvPr/>
        </p:nvSpPr>
        <p:spPr>
          <a:xfrm rot="15180">
            <a:off x="7039385" y="5339982"/>
            <a:ext cx="21611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9" id="29"/>
          <p:cNvSpPr/>
          <p:nvPr/>
        </p:nvSpPr>
        <p:spPr>
          <a:xfrm flipH="false" flipV="false" rot="0">
            <a:off x="9529448" y="5675471"/>
            <a:ext cx="3736086" cy="1610106"/>
          </a:xfrm>
          <a:custGeom>
            <a:avLst/>
            <a:gdLst/>
            <a:ahLst/>
            <a:cxnLst/>
            <a:rect r="r" b="b" t="t" l="l"/>
            <a:pathLst>
              <a:path h="1610106" w="3736086">
                <a:moveTo>
                  <a:pt x="0" y="0"/>
                </a:moveTo>
                <a:lnTo>
                  <a:pt x="3736086" y="0"/>
                </a:lnTo>
                <a:lnTo>
                  <a:pt x="3736086" y="1610106"/>
                </a:lnTo>
                <a:lnTo>
                  <a:pt x="0" y="1610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9529448" y="5675471"/>
            <a:ext cx="3736086" cy="197453"/>
            <a:chOff x="0" y="0"/>
            <a:chExt cx="4981448" cy="26327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981448" cy="263271"/>
            </a:xfrm>
            <a:custGeom>
              <a:avLst/>
              <a:gdLst/>
              <a:ahLst/>
              <a:cxnLst/>
              <a:rect r="r" b="b" t="t" l="l"/>
              <a:pathLst>
                <a:path h="263271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263271"/>
                  </a:lnTo>
                  <a:lnTo>
                    <a:pt x="0" y="263271"/>
                  </a:lnTo>
                  <a:close/>
                </a:path>
              </a:pathLst>
            </a:custGeom>
            <a:solidFill>
              <a:srgbClr val="7760D2"/>
            </a:solidFill>
            <a:ln w="19050" cap="sq">
              <a:solidFill>
                <a:srgbClr val="7760D2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9747542" y="6099296"/>
            <a:ext cx="328643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 SERVICE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747542" y="6606902"/>
            <a:ext cx="3286439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8083</a:t>
            </a:r>
          </a:p>
        </p:txBody>
      </p:sp>
      <p:sp>
        <p:nvSpPr>
          <p:cNvPr name="AutoShape 34" id="34"/>
          <p:cNvSpPr/>
          <p:nvPr/>
        </p:nvSpPr>
        <p:spPr>
          <a:xfrm rot="13500">
            <a:off x="9049131" y="5339982"/>
            <a:ext cx="2421207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5" id="35"/>
          <p:cNvSpPr/>
          <p:nvPr/>
        </p:nvSpPr>
        <p:spPr>
          <a:xfrm flipH="false" flipV="false" rot="0">
            <a:off x="13808954" y="5675471"/>
            <a:ext cx="3736086" cy="1610106"/>
          </a:xfrm>
          <a:custGeom>
            <a:avLst/>
            <a:gdLst/>
            <a:ahLst/>
            <a:cxnLst/>
            <a:rect r="r" b="b" t="t" l="l"/>
            <a:pathLst>
              <a:path h="1610106" w="3736086">
                <a:moveTo>
                  <a:pt x="0" y="0"/>
                </a:moveTo>
                <a:lnTo>
                  <a:pt x="3736086" y="0"/>
                </a:lnTo>
                <a:lnTo>
                  <a:pt x="3736086" y="1610106"/>
                </a:lnTo>
                <a:lnTo>
                  <a:pt x="0" y="1610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3808954" y="5675471"/>
            <a:ext cx="3736086" cy="197453"/>
            <a:chOff x="0" y="0"/>
            <a:chExt cx="4981448" cy="2632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4981448" cy="263271"/>
            </a:xfrm>
            <a:custGeom>
              <a:avLst/>
              <a:gdLst/>
              <a:ahLst/>
              <a:cxnLst/>
              <a:rect r="r" b="b" t="t" l="l"/>
              <a:pathLst>
                <a:path h="263271" w="4981448">
                  <a:moveTo>
                    <a:pt x="0" y="0"/>
                  </a:moveTo>
                  <a:lnTo>
                    <a:pt x="4981448" y="0"/>
                  </a:lnTo>
                  <a:lnTo>
                    <a:pt x="4981448" y="263271"/>
                  </a:lnTo>
                  <a:lnTo>
                    <a:pt x="0" y="263271"/>
                  </a:lnTo>
                  <a:close/>
                </a:path>
              </a:pathLst>
            </a:custGeom>
            <a:solidFill>
              <a:srgbClr val="F49D45"/>
            </a:solidFill>
            <a:ln w="19050" cap="sq">
              <a:solidFill>
                <a:srgbClr val="F49D45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4027039" y="6099296"/>
            <a:ext cx="328643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70"/>
              </a:lnSpc>
            </a:pPr>
            <a:r>
              <a:rPr lang="en-US" sz="17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 SERVICE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4027039" y="6606902"/>
            <a:ext cx="3286439" cy="2554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0"/>
              </a:lnSpc>
            </a:pPr>
            <a:r>
              <a:rPr lang="en-US" sz="16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8084</a:t>
            </a:r>
          </a:p>
        </p:txBody>
      </p:sp>
      <p:sp>
        <p:nvSpPr>
          <p:cNvPr name="AutoShape 40" id="40"/>
          <p:cNvSpPr/>
          <p:nvPr/>
        </p:nvSpPr>
        <p:spPr>
          <a:xfrm rot="4920">
            <a:off x="9083792" y="5339982"/>
            <a:ext cx="6631381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1" id="41"/>
          <p:cNvSpPr/>
          <p:nvPr/>
        </p:nvSpPr>
        <p:spPr>
          <a:xfrm flipH="false" flipV="false" rot="0">
            <a:off x="6224111" y="7911074"/>
            <a:ext cx="5793581" cy="1020509"/>
          </a:xfrm>
          <a:custGeom>
            <a:avLst/>
            <a:gdLst/>
            <a:ahLst/>
            <a:cxnLst/>
            <a:rect r="r" b="b" t="t" l="l"/>
            <a:pathLst>
              <a:path h="1020509" w="5793581">
                <a:moveTo>
                  <a:pt x="0" y="0"/>
                </a:moveTo>
                <a:lnTo>
                  <a:pt x="5793582" y="0"/>
                </a:lnTo>
                <a:lnTo>
                  <a:pt x="5793582" y="1020509"/>
                </a:lnTo>
                <a:lnTo>
                  <a:pt x="0" y="10205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6240780" y="8135712"/>
            <a:ext cx="5686739" cy="309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0"/>
              </a:lnSpc>
            </a:pPr>
            <a:r>
              <a:rPr lang="en-US" sz="19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EUREKA SERVER • 8761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240780" y="8540925"/>
            <a:ext cx="57601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Service registration + discovery</a:t>
            </a:r>
          </a:p>
        </p:txBody>
      </p:sp>
      <p:sp>
        <p:nvSpPr>
          <p:cNvPr name="AutoShape 44" id="44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5892653" y="712803"/>
            <a:ext cx="2399728" cy="1110234"/>
            <a:chOff x="0" y="0"/>
            <a:chExt cx="3199638" cy="1480312"/>
          </a:xfrm>
        </p:grpSpPr>
        <p:sp>
          <p:nvSpPr>
            <p:cNvPr name="Freeform 48" id="48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042043"/>
            <a:ext cx="2930185" cy="2930185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39558" y="-480060"/>
            <a:ext cx="3465271" cy="3465271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07 • SERVICE MAP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Six components, six responsibilities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Clear ownership keeps each business capability focused.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0988" y="24246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3" y="0"/>
                </a:lnTo>
                <a:lnTo>
                  <a:pt x="5135213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330557" y="2784243"/>
            <a:ext cx="575596" cy="575596"/>
            <a:chOff x="0" y="0"/>
            <a:chExt cx="767461" cy="76746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2066582" y="28569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8761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67276" y="35838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Eureka Server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67276" y="40964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Service registration and discovery.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6704171" y="24246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3" y="0"/>
                </a:lnTo>
                <a:lnTo>
                  <a:pt x="5135213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7063740" y="2784243"/>
            <a:ext cx="575596" cy="575596"/>
            <a:chOff x="0" y="0"/>
            <a:chExt cx="767461" cy="76746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7799756" y="28569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8080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00459" y="35838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API Gateway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100459" y="40964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Single entry point and request routing.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2437354" y="24246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4" y="0"/>
                </a:lnTo>
                <a:lnTo>
                  <a:pt x="5135214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2" id="22"/>
          <p:cNvGrpSpPr/>
          <p:nvPr/>
        </p:nvGrpSpPr>
        <p:grpSpPr>
          <a:xfrm rot="0">
            <a:off x="12796923" y="2784243"/>
            <a:ext cx="575596" cy="575596"/>
            <a:chOff x="0" y="0"/>
            <a:chExt cx="767461" cy="76746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3533482" y="28569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4870D6"/>
                </a:solidFill>
                <a:latin typeface="Aptos Bold"/>
                <a:ea typeface="Aptos Bold"/>
                <a:cs typeface="Aptos Bold"/>
                <a:sym typeface="Aptos Bold"/>
              </a:rPr>
              <a:t>8081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833642" y="35838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 Service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33642" y="40964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Registration, login, profile, bank and card details.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970988" y="55107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3" y="0"/>
                </a:lnTo>
                <a:lnTo>
                  <a:pt x="5135213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330557" y="5870343"/>
            <a:ext cx="575596" cy="575596"/>
            <a:chOff x="0" y="0"/>
            <a:chExt cx="767461" cy="76746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066582" y="59430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37B5AA"/>
                </a:solidFill>
                <a:latin typeface="Aptos Bold"/>
                <a:ea typeface="Aptos Bold"/>
                <a:cs typeface="Aptos Bold"/>
                <a:sym typeface="Aptos Bold"/>
              </a:rPr>
              <a:t>8082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67276" y="66699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Service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67276" y="71825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CRUD, search, category filtering and purchase.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6704171" y="55107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3" y="0"/>
                </a:lnTo>
                <a:lnTo>
                  <a:pt x="5135213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7063740" y="5870343"/>
            <a:ext cx="575596" cy="575596"/>
            <a:chOff x="0" y="0"/>
            <a:chExt cx="767461" cy="76746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7799756" y="59430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7760D2"/>
                </a:solidFill>
                <a:latin typeface="Aptos Bold"/>
                <a:ea typeface="Aptos Bold"/>
                <a:cs typeface="Aptos Bold"/>
                <a:sym typeface="Aptos Bold"/>
              </a:rPr>
              <a:t>8083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100459" y="66699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 Service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100459" y="71825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Purchase persistence, EMI calculation and tracking.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12437354" y="5510774"/>
            <a:ext cx="5135213" cy="2474119"/>
          </a:xfrm>
          <a:custGeom>
            <a:avLst/>
            <a:gdLst/>
            <a:ahLst/>
            <a:cxnLst/>
            <a:rect r="r" b="b" t="t" l="l"/>
            <a:pathLst>
              <a:path h="2474119" w="5135213">
                <a:moveTo>
                  <a:pt x="0" y="0"/>
                </a:moveTo>
                <a:lnTo>
                  <a:pt x="5135214" y="0"/>
                </a:lnTo>
                <a:lnTo>
                  <a:pt x="5135214" y="2474119"/>
                </a:lnTo>
                <a:lnTo>
                  <a:pt x="0" y="24741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2796923" y="5870343"/>
            <a:ext cx="575596" cy="575596"/>
            <a:chOff x="0" y="0"/>
            <a:chExt cx="767461" cy="76746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767461" cy="767461"/>
            </a:xfrm>
            <a:custGeom>
              <a:avLst/>
              <a:gdLst/>
              <a:ahLst/>
              <a:cxnLst/>
              <a:rect r="r" b="b" t="t" l="l"/>
              <a:pathLst>
                <a:path h="767461" w="767461">
                  <a:moveTo>
                    <a:pt x="0" y="383794"/>
                  </a:moveTo>
                  <a:cubicBezTo>
                    <a:pt x="0" y="171831"/>
                    <a:pt x="171831" y="0"/>
                    <a:pt x="383794" y="0"/>
                  </a:cubicBezTo>
                  <a:cubicBezTo>
                    <a:pt x="595757" y="0"/>
                    <a:pt x="767461" y="171831"/>
                    <a:pt x="767461" y="383794"/>
                  </a:cubicBezTo>
                  <a:cubicBezTo>
                    <a:pt x="767461" y="595757"/>
                    <a:pt x="595757" y="767461"/>
                    <a:pt x="383794" y="767461"/>
                  </a:cubicBezTo>
                  <a:cubicBezTo>
                    <a:pt x="171831" y="767461"/>
                    <a:pt x="0" y="595757"/>
                    <a:pt x="0" y="383794"/>
                  </a:cubicBez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13533482" y="5943086"/>
            <a:ext cx="886139" cy="246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0"/>
              </a:lnSpc>
            </a:pPr>
            <a:r>
              <a:rPr lang="en-US" sz="1350" b="true">
                <a:solidFill>
                  <a:srgbClr val="F49D45"/>
                </a:solidFill>
                <a:latin typeface="Aptos Bold"/>
                <a:ea typeface="Aptos Bold"/>
                <a:cs typeface="Aptos Bold"/>
                <a:sym typeface="Aptos Bold"/>
              </a:rPr>
              <a:t>8084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833642" y="6669929"/>
            <a:ext cx="4315139" cy="356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 Service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833642" y="7182536"/>
            <a:ext cx="4287603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Admin management plus user/product/purchase views.</a:t>
            </a:r>
          </a:p>
        </p:txBody>
      </p:sp>
      <p:sp>
        <p:nvSpPr>
          <p:cNvPr name="AutoShape 45" id="45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49" id="49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137779"/>
            <a:ext cx="2834449" cy="2834449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43518" y="-480060"/>
            <a:ext cx="3561312" cy="3561312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08 • TECHNOLOGY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Technology stack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Only technologies listed in the project README and frontend package.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43451" y="2342588"/>
            <a:ext cx="7782401" cy="2803588"/>
          </a:xfrm>
          <a:custGeom>
            <a:avLst/>
            <a:gdLst/>
            <a:ahLst/>
            <a:cxnLst/>
            <a:rect r="r" b="b" t="t" l="l"/>
            <a:pathLst>
              <a:path h="2803588" w="7782401">
                <a:moveTo>
                  <a:pt x="0" y="0"/>
                </a:moveTo>
                <a:lnTo>
                  <a:pt x="7782401" y="0"/>
                </a:lnTo>
                <a:lnTo>
                  <a:pt x="7782401" y="2803589"/>
                </a:lnTo>
                <a:lnTo>
                  <a:pt x="0" y="2803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43451" y="2342588"/>
            <a:ext cx="7782306" cy="169926"/>
            <a:chOff x="0" y="0"/>
            <a:chExt cx="10376408" cy="22656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376408" cy="226568"/>
            </a:xfrm>
            <a:custGeom>
              <a:avLst/>
              <a:gdLst/>
              <a:ahLst/>
              <a:cxnLst/>
              <a:rect r="r" b="b" t="t" l="l"/>
              <a:pathLst>
                <a:path h="226568" w="10376408">
                  <a:moveTo>
                    <a:pt x="0" y="0"/>
                  </a:moveTo>
                  <a:lnTo>
                    <a:pt x="10376408" y="0"/>
                  </a:lnTo>
                  <a:lnTo>
                    <a:pt x="10376408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4870D6"/>
            </a:solidFill>
            <a:ln w="19050" cap="sq">
              <a:solidFill>
                <a:srgbClr val="4870D6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380782" y="2738876"/>
            <a:ext cx="650969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Backend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241631" y="2342588"/>
            <a:ext cx="7782401" cy="2803588"/>
          </a:xfrm>
          <a:custGeom>
            <a:avLst/>
            <a:gdLst/>
            <a:ahLst/>
            <a:cxnLst/>
            <a:rect r="r" b="b" t="t" l="l"/>
            <a:pathLst>
              <a:path h="2803588" w="7782401">
                <a:moveTo>
                  <a:pt x="0" y="0"/>
                </a:moveTo>
                <a:lnTo>
                  <a:pt x="7782401" y="0"/>
                </a:lnTo>
                <a:lnTo>
                  <a:pt x="7782401" y="2803589"/>
                </a:lnTo>
                <a:lnTo>
                  <a:pt x="0" y="2803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241631" y="2342588"/>
            <a:ext cx="7782306" cy="169926"/>
            <a:chOff x="0" y="0"/>
            <a:chExt cx="10376408" cy="22656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376408" cy="226568"/>
            </a:xfrm>
            <a:custGeom>
              <a:avLst/>
              <a:gdLst/>
              <a:ahLst/>
              <a:cxnLst/>
              <a:rect r="r" b="b" t="t" l="l"/>
              <a:pathLst>
                <a:path h="226568" w="10376408">
                  <a:moveTo>
                    <a:pt x="0" y="0"/>
                  </a:moveTo>
                  <a:lnTo>
                    <a:pt x="10376408" y="0"/>
                  </a:lnTo>
                  <a:lnTo>
                    <a:pt x="10376408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7760D2"/>
            </a:solidFill>
            <a:ln w="19050" cap="sq">
              <a:solidFill>
                <a:srgbClr val="7760D2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9678962" y="2738876"/>
            <a:ext cx="650969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Frontend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43451" y="5661974"/>
            <a:ext cx="7782401" cy="2803588"/>
          </a:xfrm>
          <a:custGeom>
            <a:avLst/>
            <a:gdLst/>
            <a:ahLst/>
            <a:cxnLst/>
            <a:rect r="r" b="b" t="t" l="l"/>
            <a:pathLst>
              <a:path h="2803588" w="7782401">
                <a:moveTo>
                  <a:pt x="0" y="0"/>
                </a:moveTo>
                <a:lnTo>
                  <a:pt x="7782401" y="0"/>
                </a:lnTo>
                <a:lnTo>
                  <a:pt x="7782401" y="2803589"/>
                </a:lnTo>
                <a:lnTo>
                  <a:pt x="0" y="2803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43451" y="5661974"/>
            <a:ext cx="7782306" cy="169926"/>
            <a:chOff x="0" y="0"/>
            <a:chExt cx="10376408" cy="22656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376408" cy="226568"/>
            </a:xfrm>
            <a:custGeom>
              <a:avLst/>
              <a:gdLst/>
              <a:ahLst/>
              <a:cxnLst/>
              <a:rect r="r" b="b" t="t" l="l"/>
              <a:pathLst>
                <a:path h="226568" w="10376408">
                  <a:moveTo>
                    <a:pt x="0" y="0"/>
                  </a:moveTo>
                  <a:lnTo>
                    <a:pt x="10376408" y="0"/>
                  </a:lnTo>
                  <a:lnTo>
                    <a:pt x="10376408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37B5AA"/>
            </a:solidFill>
            <a:ln w="19050" cap="sq">
              <a:solidFill>
                <a:srgbClr val="37B5AA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80782" y="6058262"/>
            <a:ext cx="650969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Data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44063" y="6665757"/>
            <a:ext cx="6788877" cy="123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MySQL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HeidiSQL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Repository layer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Four service databases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9241631" y="5661974"/>
            <a:ext cx="7782401" cy="2803588"/>
          </a:xfrm>
          <a:custGeom>
            <a:avLst/>
            <a:gdLst/>
            <a:ahLst/>
            <a:cxnLst/>
            <a:rect r="r" b="b" t="t" l="l"/>
            <a:pathLst>
              <a:path h="2803588" w="7782401">
                <a:moveTo>
                  <a:pt x="0" y="0"/>
                </a:moveTo>
                <a:lnTo>
                  <a:pt x="7782401" y="0"/>
                </a:lnTo>
                <a:lnTo>
                  <a:pt x="7782401" y="2803589"/>
                </a:lnTo>
                <a:lnTo>
                  <a:pt x="0" y="280358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9241631" y="5661974"/>
            <a:ext cx="7782306" cy="169926"/>
            <a:chOff x="0" y="0"/>
            <a:chExt cx="10376408" cy="2265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376408" cy="226568"/>
            </a:xfrm>
            <a:custGeom>
              <a:avLst/>
              <a:gdLst/>
              <a:ahLst/>
              <a:cxnLst/>
              <a:rect r="r" b="b" t="t" l="l"/>
              <a:pathLst>
                <a:path h="226568" w="10376408">
                  <a:moveTo>
                    <a:pt x="0" y="0"/>
                  </a:moveTo>
                  <a:lnTo>
                    <a:pt x="10376408" y="0"/>
                  </a:lnTo>
                  <a:lnTo>
                    <a:pt x="10376408" y="226568"/>
                  </a:lnTo>
                  <a:lnTo>
                    <a:pt x="0" y="226568"/>
                  </a:lnTo>
                  <a:close/>
                </a:path>
              </a:pathLst>
            </a:custGeom>
            <a:solidFill>
              <a:srgbClr val="F49D45"/>
            </a:solidFill>
            <a:ln w="19050" cap="sq">
              <a:solidFill>
                <a:srgbClr val="F49D45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9678962" y="6058262"/>
            <a:ext cx="650969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02856"/>
                </a:solidFill>
                <a:latin typeface="Aptos Bold"/>
                <a:ea typeface="Aptos Bold"/>
                <a:cs typeface="Aptos Bold"/>
                <a:sym typeface="Aptos Bold"/>
              </a:rPr>
              <a:t>Development Tools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642243" y="6665757"/>
            <a:ext cx="6788877" cy="12338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Eclipse IDE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VS Code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Git / GitHub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Postman</a:t>
            </a:r>
          </a:p>
        </p:txBody>
      </p:sp>
      <p:sp>
        <p:nvSpPr>
          <p:cNvPr name="AutoShape 27" id="27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44063" y="3319377"/>
            <a:ext cx="3016977" cy="171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Java 17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3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Data JPA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Validation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Cloud Eureka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498743" y="3319377"/>
            <a:ext cx="3016977" cy="171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Cloud Gateway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OpenFeign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Lombok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Maven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642243" y="3319377"/>
            <a:ext cx="3016977" cy="171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Angular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TypeScript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HTML5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CSS3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796923" y="3319377"/>
            <a:ext cx="3016977" cy="1713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Bootstrap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Angular Router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Angular Forms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HttpClient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35" id="35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042634"/>
            <a:ext cx="2929595" cy="2929595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21289" y="-480060"/>
            <a:ext cx="3483540" cy="3483540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4170DC"/>
                </a:solidFill>
                <a:latin typeface="Aptos Bold"/>
                <a:ea typeface="Aptos Bold"/>
                <a:cs typeface="Aptos Bold"/>
                <a:sym typeface="Aptos Bold"/>
              </a:rPr>
              <a:t>09 </a:t>
            </a:r>
            <a:r>
              <a:rPr lang="en-US" sz="1650" b="true">
                <a:solidFill>
                  <a:srgbClr val="4170DC"/>
                </a:solidFill>
                <a:latin typeface="Aptos Bold"/>
                <a:ea typeface="Aptos Bold"/>
                <a:cs typeface="Aptos Bold"/>
                <a:sym typeface="Aptos Bold"/>
              </a:rPr>
              <a:t>• BACKEND DEEP DIVE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 Service • EMI &amp; purchase records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Port 8083 • database: finance_finance_db • table: purchase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0988" y="2342588"/>
            <a:ext cx="9634061" cy="6547961"/>
          </a:xfrm>
          <a:custGeom>
            <a:avLst/>
            <a:gdLst/>
            <a:ahLst/>
            <a:cxnLst/>
            <a:rect r="r" b="b" t="t" l="l"/>
            <a:pathLst>
              <a:path h="6547961" w="9634061">
                <a:moveTo>
                  <a:pt x="0" y="0"/>
                </a:moveTo>
                <a:lnTo>
                  <a:pt x="9634061" y="0"/>
                </a:lnTo>
                <a:lnTo>
                  <a:pt x="9634061" y="6547961"/>
                </a:lnTo>
                <a:lnTo>
                  <a:pt x="0" y="6547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35856" y="2820962"/>
            <a:ext cx="321785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Purchase lifecycle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382468" y="3577028"/>
            <a:ext cx="1473041" cy="499396"/>
          </a:xfrm>
          <a:custGeom>
            <a:avLst/>
            <a:gdLst/>
            <a:ahLst/>
            <a:cxnLst/>
            <a:rect r="r" b="b" t="t" l="l"/>
            <a:pathLst>
              <a:path h="499396" w="1473041">
                <a:moveTo>
                  <a:pt x="0" y="0"/>
                </a:moveTo>
                <a:lnTo>
                  <a:pt x="1473041" y="0"/>
                </a:lnTo>
                <a:lnTo>
                  <a:pt x="147304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481223" y="3655524"/>
            <a:ext cx="1233897" cy="342357"/>
            <a:chOff x="0" y="0"/>
            <a:chExt cx="1645196" cy="45647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645158" cy="456438"/>
            </a:xfrm>
            <a:custGeom>
              <a:avLst/>
              <a:gdLst/>
              <a:ahLst/>
              <a:cxnLst/>
              <a:rect r="r" b="b" t="t" l="l"/>
              <a:pathLst>
                <a:path h="456438" w="1645158">
                  <a:moveTo>
                    <a:pt x="0" y="0"/>
                  </a:moveTo>
                  <a:lnTo>
                    <a:pt x="1645158" y="0"/>
                  </a:lnTo>
                  <a:lnTo>
                    <a:pt x="164515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78" r="-2" b="-20189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481223" y="3648380"/>
            <a:ext cx="1233897" cy="349501"/>
            <a:chOff x="0" y="0"/>
            <a:chExt cx="1645196" cy="46600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645196" cy="466001"/>
            </a:xfrm>
            <a:custGeom>
              <a:avLst/>
              <a:gdLst/>
              <a:ahLst/>
              <a:cxnLst/>
              <a:rect r="r" b="b" t="t" l="l"/>
              <a:pathLst>
                <a:path h="466001" w="1645196">
                  <a:moveTo>
                    <a:pt x="0" y="0"/>
                  </a:moveTo>
                  <a:lnTo>
                    <a:pt x="1645196" y="0"/>
                  </a:lnTo>
                  <a:lnTo>
                    <a:pt x="164519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791" r="0" b="-18791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64519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527B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CREATE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044781" y="3676040"/>
            <a:ext cx="6377397" cy="301323"/>
            <a:chOff x="0" y="0"/>
            <a:chExt cx="8503196" cy="40176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503158" cy="401701"/>
            </a:xfrm>
            <a:custGeom>
              <a:avLst/>
              <a:gdLst/>
              <a:ahLst/>
              <a:cxnLst/>
              <a:rect r="r" b="b" t="t" l="l"/>
              <a:pathLst>
                <a:path h="401701" w="8503158">
                  <a:moveTo>
                    <a:pt x="0" y="0"/>
                  </a:moveTo>
                  <a:lnTo>
                    <a:pt x="8503158" y="0"/>
                  </a:lnTo>
                  <a:lnTo>
                    <a:pt x="850315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2165" r="0" b="-362178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3044781" y="3676040"/>
            <a:ext cx="6377397" cy="301323"/>
            <a:chOff x="0" y="0"/>
            <a:chExt cx="8503196" cy="40176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503196" cy="401764"/>
            </a:xfrm>
            <a:custGeom>
              <a:avLst/>
              <a:gdLst/>
              <a:ahLst/>
              <a:cxnLst/>
              <a:rect r="r" b="b" t="t" l="l"/>
              <a:pathLst>
                <a:path h="401764" w="8503196">
                  <a:moveTo>
                    <a:pt x="0" y="0"/>
                  </a:moveTo>
                  <a:lnTo>
                    <a:pt x="8503196" y="0"/>
                  </a:lnTo>
                  <a:lnTo>
                    <a:pt x="8503196" y="401764"/>
                  </a:lnTo>
                  <a:lnTo>
                    <a:pt x="0" y="4017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2394" r="0" b="-362394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8503196" cy="40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037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POST /api/purchases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382468" y="4537148"/>
            <a:ext cx="1473041" cy="499396"/>
          </a:xfrm>
          <a:custGeom>
            <a:avLst/>
            <a:gdLst/>
            <a:ahLst/>
            <a:cxnLst/>
            <a:rect r="r" b="b" t="t" l="l"/>
            <a:pathLst>
              <a:path h="499396" w="1473041">
                <a:moveTo>
                  <a:pt x="0" y="0"/>
                </a:moveTo>
                <a:lnTo>
                  <a:pt x="1473041" y="0"/>
                </a:lnTo>
                <a:lnTo>
                  <a:pt x="147304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502007" y="4615644"/>
            <a:ext cx="1233897" cy="342357"/>
            <a:chOff x="0" y="0"/>
            <a:chExt cx="1645196" cy="45647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645158" cy="456438"/>
            </a:xfrm>
            <a:custGeom>
              <a:avLst/>
              <a:gdLst/>
              <a:ahLst/>
              <a:cxnLst/>
              <a:rect r="r" b="b" t="t" l="l"/>
              <a:pathLst>
                <a:path h="456438" w="1645158">
                  <a:moveTo>
                    <a:pt x="0" y="0"/>
                  </a:moveTo>
                  <a:lnTo>
                    <a:pt x="1645158" y="0"/>
                  </a:lnTo>
                  <a:lnTo>
                    <a:pt x="164515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78" r="-2" b="-20189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502007" y="4608500"/>
            <a:ext cx="1233897" cy="349501"/>
            <a:chOff x="0" y="0"/>
            <a:chExt cx="1645196" cy="4660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645196" cy="466001"/>
            </a:xfrm>
            <a:custGeom>
              <a:avLst/>
              <a:gdLst/>
              <a:ahLst/>
              <a:cxnLst/>
              <a:rect r="r" b="b" t="t" l="l"/>
              <a:pathLst>
                <a:path h="466001" w="1645196">
                  <a:moveTo>
                    <a:pt x="0" y="0"/>
                  </a:moveTo>
                  <a:lnTo>
                    <a:pt x="1645196" y="0"/>
                  </a:lnTo>
                  <a:lnTo>
                    <a:pt x="164519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791" r="0" b="-18791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64519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37B8B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3099597" y="4609128"/>
            <a:ext cx="6377397" cy="301323"/>
            <a:chOff x="0" y="0"/>
            <a:chExt cx="8503196" cy="4017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503158" cy="401701"/>
            </a:xfrm>
            <a:custGeom>
              <a:avLst/>
              <a:gdLst/>
              <a:ahLst/>
              <a:cxnLst/>
              <a:rect r="r" b="b" t="t" l="l"/>
              <a:pathLst>
                <a:path h="401701" w="8503158">
                  <a:moveTo>
                    <a:pt x="0" y="0"/>
                  </a:moveTo>
                  <a:lnTo>
                    <a:pt x="8503158" y="0"/>
                  </a:lnTo>
                  <a:lnTo>
                    <a:pt x="850315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2165" r="0" b="-362178"/>
              </a:stretch>
            </a:blip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3099597" y="4609128"/>
            <a:ext cx="6377397" cy="301323"/>
            <a:chOff x="0" y="0"/>
            <a:chExt cx="8503196" cy="401764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503196" cy="401764"/>
            </a:xfrm>
            <a:custGeom>
              <a:avLst/>
              <a:gdLst/>
              <a:ahLst/>
              <a:cxnLst/>
              <a:rect r="r" b="b" t="t" l="l"/>
              <a:pathLst>
                <a:path h="401764" w="8503196">
                  <a:moveTo>
                    <a:pt x="0" y="0"/>
                  </a:moveTo>
                  <a:lnTo>
                    <a:pt x="8503196" y="0"/>
                  </a:lnTo>
                  <a:lnTo>
                    <a:pt x="8503196" y="401764"/>
                  </a:lnTo>
                  <a:lnTo>
                    <a:pt x="0" y="4017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2394" r="0" b="-362394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8503196" cy="40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037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GET /api/purchases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3044781" y="5596280"/>
            <a:ext cx="6377397" cy="301323"/>
            <a:chOff x="0" y="0"/>
            <a:chExt cx="8503196" cy="401764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8503158" cy="401701"/>
            </a:xfrm>
            <a:custGeom>
              <a:avLst/>
              <a:gdLst/>
              <a:ahLst/>
              <a:cxnLst/>
              <a:rect r="r" b="b" t="t" l="l"/>
              <a:pathLst>
                <a:path h="401701" w="8503158">
                  <a:moveTo>
                    <a:pt x="0" y="0"/>
                  </a:moveTo>
                  <a:lnTo>
                    <a:pt x="8503158" y="0"/>
                  </a:lnTo>
                  <a:lnTo>
                    <a:pt x="850315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2165" r="0" b="-362178"/>
              </a:stretch>
            </a:blip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044781" y="5596280"/>
            <a:ext cx="6377397" cy="301323"/>
            <a:chOff x="0" y="0"/>
            <a:chExt cx="8503196" cy="40176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503196" cy="401764"/>
            </a:xfrm>
            <a:custGeom>
              <a:avLst/>
              <a:gdLst/>
              <a:ahLst/>
              <a:cxnLst/>
              <a:rect r="r" b="b" t="t" l="l"/>
              <a:pathLst>
                <a:path h="401764" w="8503196">
                  <a:moveTo>
                    <a:pt x="0" y="0"/>
                  </a:moveTo>
                  <a:lnTo>
                    <a:pt x="8503196" y="0"/>
                  </a:lnTo>
                  <a:lnTo>
                    <a:pt x="8503196" y="401764"/>
                  </a:lnTo>
                  <a:lnTo>
                    <a:pt x="0" y="4017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2394" r="0" b="-36239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0"/>
              <a:ext cx="8503196" cy="40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037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PUT /api/purchases/{id}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044781" y="6556143"/>
            <a:ext cx="6377397" cy="301323"/>
            <a:chOff x="0" y="0"/>
            <a:chExt cx="8503196" cy="40176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503158" cy="401701"/>
            </a:xfrm>
            <a:custGeom>
              <a:avLst/>
              <a:gdLst/>
              <a:ahLst/>
              <a:cxnLst/>
              <a:rect r="r" b="b" t="t" l="l"/>
              <a:pathLst>
                <a:path h="401701" w="8503158">
                  <a:moveTo>
                    <a:pt x="0" y="0"/>
                  </a:moveTo>
                  <a:lnTo>
                    <a:pt x="8503158" y="0"/>
                  </a:lnTo>
                  <a:lnTo>
                    <a:pt x="850315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362165" r="0" b="-362178"/>
              </a:stretch>
            </a:blipFill>
          </p:spPr>
        </p:sp>
      </p:grpSp>
      <p:grpSp>
        <p:nvGrpSpPr>
          <p:cNvPr name="Group 40" id="40"/>
          <p:cNvGrpSpPr/>
          <p:nvPr/>
        </p:nvGrpSpPr>
        <p:grpSpPr>
          <a:xfrm rot="0">
            <a:off x="3044781" y="6556143"/>
            <a:ext cx="6377397" cy="301323"/>
            <a:chOff x="0" y="0"/>
            <a:chExt cx="8503196" cy="401764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503196" cy="401764"/>
            </a:xfrm>
            <a:custGeom>
              <a:avLst/>
              <a:gdLst/>
              <a:ahLst/>
              <a:cxnLst/>
              <a:rect r="r" b="b" t="t" l="l"/>
              <a:pathLst>
                <a:path h="401764" w="8503196">
                  <a:moveTo>
                    <a:pt x="0" y="0"/>
                  </a:moveTo>
                  <a:lnTo>
                    <a:pt x="8503196" y="0"/>
                  </a:lnTo>
                  <a:lnTo>
                    <a:pt x="8503196" y="401764"/>
                  </a:lnTo>
                  <a:lnTo>
                    <a:pt x="0" y="40176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362394" r="0" b="-362394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0"/>
              <a:ext cx="8503196" cy="401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00"/>
                </a:lnSpc>
              </a:pPr>
              <a:r>
                <a:rPr lang="en-US" sz="1500" b="true">
                  <a:solidFill>
                    <a:srgbClr val="20375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DELETE /api/purchases/{id}</a:t>
              </a:r>
            </a:p>
          </p:txBody>
        </p:sp>
      </p:grpSp>
      <p:sp>
        <p:nvSpPr>
          <p:cNvPr name="Freeform 43" id="43"/>
          <p:cNvSpPr/>
          <p:nvPr/>
        </p:nvSpPr>
        <p:spPr>
          <a:xfrm flipH="false" flipV="false" rot="0">
            <a:off x="10983668" y="2342588"/>
            <a:ext cx="6314599" cy="6547866"/>
          </a:xfrm>
          <a:custGeom>
            <a:avLst/>
            <a:gdLst/>
            <a:ahLst/>
            <a:cxnLst/>
            <a:rect r="r" b="b" t="t" l="l"/>
            <a:pathLst>
              <a:path h="6547866" w="6314599">
                <a:moveTo>
                  <a:pt x="0" y="0"/>
                </a:moveTo>
                <a:lnTo>
                  <a:pt x="6314599" y="0"/>
                </a:lnTo>
                <a:lnTo>
                  <a:pt x="6314599" y="6547866"/>
                </a:lnTo>
                <a:lnTo>
                  <a:pt x="0" y="654786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4" id="44"/>
          <p:cNvSpPr txBox="true"/>
          <p:nvPr/>
        </p:nvSpPr>
        <p:spPr>
          <a:xfrm rot="0">
            <a:off x="11489579" y="2820962"/>
            <a:ext cx="472661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What the finance layer stores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452860" y="3703320"/>
            <a:ext cx="4868637" cy="2262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Purchase records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Purchase status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User-specific purchase history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Purchase retrieval by ID</a:t>
            </a:r>
          </a:p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Update and delete operations</a:t>
            </a:r>
          </a:p>
        </p:txBody>
      </p:sp>
      <p:sp>
        <p:nvSpPr>
          <p:cNvPr name="AutoShape 46" id="46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7" id="47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sp>
        <p:nvSpPr>
          <p:cNvPr name="Freeform 49" id="49"/>
          <p:cNvSpPr/>
          <p:nvPr/>
        </p:nvSpPr>
        <p:spPr>
          <a:xfrm flipH="false" flipV="false" rot="0">
            <a:off x="11689985" y="6196574"/>
            <a:ext cx="4901946" cy="1651159"/>
          </a:xfrm>
          <a:custGeom>
            <a:avLst/>
            <a:gdLst/>
            <a:ahLst/>
            <a:cxnLst/>
            <a:rect r="r" b="b" t="t" l="l"/>
            <a:pathLst>
              <a:path h="1651159" w="4901946">
                <a:moveTo>
                  <a:pt x="0" y="0"/>
                </a:moveTo>
                <a:lnTo>
                  <a:pt x="4901946" y="0"/>
                </a:lnTo>
                <a:lnTo>
                  <a:pt x="4901946" y="1651159"/>
                </a:lnTo>
                <a:lnTo>
                  <a:pt x="0" y="165115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0" id="50"/>
          <p:cNvGrpSpPr/>
          <p:nvPr/>
        </p:nvGrpSpPr>
        <p:grpSpPr>
          <a:xfrm rot="0">
            <a:off x="11960457" y="6556143"/>
            <a:ext cx="2331244" cy="493014"/>
            <a:chOff x="0" y="0"/>
            <a:chExt cx="3108325" cy="6573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3108325" cy="657352"/>
            </a:xfrm>
            <a:custGeom>
              <a:avLst/>
              <a:gdLst/>
              <a:ahLst/>
              <a:cxnLst/>
              <a:rect r="r" b="b" t="t" l="l"/>
              <a:pathLst>
                <a:path h="657352" w="3108325">
                  <a:moveTo>
                    <a:pt x="0" y="109601"/>
                  </a:moveTo>
                  <a:cubicBezTo>
                    <a:pt x="0" y="49022"/>
                    <a:pt x="49022" y="0"/>
                    <a:pt x="109601" y="0"/>
                  </a:cubicBezTo>
                  <a:lnTo>
                    <a:pt x="2998724" y="0"/>
                  </a:lnTo>
                  <a:cubicBezTo>
                    <a:pt x="3059176" y="0"/>
                    <a:pt x="3108325" y="49022"/>
                    <a:pt x="3108325" y="109601"/>
                  </a:cubicBezTo>
                  <a:lnTo>
                    <a:pt x="3108325" y="547751"/>
                  </a:lnTo>
                  <a:cubicBezTo>
                    <a:pt x="3108325" y="608203"/>
                    <a:pt x="3059303" y="657352"/>
                    <a:pt x="2998724" y="657352"/>
                  </a:cubicBezTo>
                  <a:lnTo>
                    <a:pt x="109601" y="657352"/>
                  </a:lnTo>
                  <a:cubicBezTo>
                    <a:pt x="49022" y="657352"/>
                    <a:pt x="0" y="608330"/>
                    <a:pt x="0" y="547751"/>
                  </a:cubicBezTo>
                  <a:close/>
                </a:path>
              </a:pathLst>
            </a:custGeom>
            <a:solidFill>
              <a:srgbClr val="E8E1FF"/>
            </a:solid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11960457" y="6583680"/>
            <a:ext cx="2331177" cy="438483"/>
            <a:chOff x="0" y="0"/>
            <a:chExt cx="3108236" cy="5846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3108198" cy="584581"/>
            </a:xfrm>
            <a:custGeom>
              <a:avLst/>
              <a:gdLst/>
              <a:ahLst/>
              <a:cxnLst/>
              <a:rect r="r" b="b" t="t" l="l"/>
              <a:pathLst>
                <a:path h="584581" w="3108198">
                  <a:moveTo>
                    <a:pt x="0" y="0"/>
                  </a:moveTo>
                  <a:lnTo>
                    <a:pt x="3108198" y="0"/>
                  </a:lnTo>
                  <a:lnTo>
                    <a:pt x="3108198" y="584581"/>
                  </a:lnTo>
                  <a:lnTo>
                    <a:pt x="0" y="584581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53525" r="-1" b="-53534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11960457" y="6583680"/>
            <a:ext cx="2331177" cy="438483"/>
            <a:chOff x="0" y="0"/>
            <a:chExt cx="3108236" cy="5846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108236" cy="584644"/>
            </a:xfrm>
            <a:custGeom>
              <a:avLst/>
              <a:gdLst/>
              <a:ahLst/>
              <a:cxnLst/>
              <a:rect r="r" b="b" t="t" l="l"/>
              <a:pathLst>
                <a:path h="584644" w="3108236">
                  <a:moveTo>
                    <a:pt x="0" y="0"/>
                  </a:moveTo>
                  <a:lnTo>
                    <a:pt x="3108236" y="0"/>
                  </a:lnTo>
                  <a:lnTo>
                    <a:pt x="3108236" y="584644"/>
                  </a:lnTo>
                  <a:lnTo>
                    <a:pt x="0" y="584644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53591" r="0" b="-53591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3108236" cy="584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 b="true">
                  <a:solidFill>
                    <a:srgbClr val="654ED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EMI CALCULATION</a:t>
              </a:r>
            </a:p>
          </p:txBody>
        </p:sp>
      </p:grpSp>
      <p:sp>
        <p:nvSpPr>
          <p:cNvPr name="TextBox 57" id="57"/>
          <p:cNvSpPr txBox="true"/>
          <p:nvPr/>
        </p:nvSpPr>
        <p:spPr>
          <a:xfrm rot="0">
            <a:off x="11960457" y="7159857"/>
            <a:ext cx="404567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EMI duration and monthly EMI are shown during purchase.</a:t>
            </a:r>
          </a:p>
        </p:txBody>
      </p:sp>
      <p:sp>
        <p:nvSpPr>
          <p:cNvPr name="Freeform 58" id="58"/>
          <p:cNvSpPr/>
          <p:nvPr/>
        </p:nvSpPr>
        <p:spPr>
          <a:xfrm flipH="false" flipV="false" rot="0">
            <a:off x="1382468" y="5497268"/>
            <a:ext cx="1473041" cy="499396"/>
          </a:xfrm>
          <a:custGeom>
            <a:avLst/>
            <a:gdLst/>
            <a:ahLst/>
            <a:cxnLst/>
            <a:rect r="r" b="b" t="t" l="l"/>
            <a:pathLst>
              <a:path h="499396" w="1473041">
                <a:moveTo>
                  <a:pt x="0" y="0"/>
                </a:moveTo>
                <a:lnTo>
                  <a:pt x="1473041" y="0"/>
                </a:lnTo>
                <a:lnTo>
                  <a:pt x="147304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1382468" y="6457388"/>
            <a:ext cx="1473041" cy="499396"/>
          </a:xfrm>
          <a:custGeom>
            <a:avLst/>
            <a:gdLst/>
            <a:ahLst/>
            <a:cxnLst/>
            <a:rect r="r" b="b" t="t" l="l"/>
            <a:pathLst>
              <a:path h="499396" w="1473041">
                <a:moveTo>
                  <a:pt x="0" y="0"/>
                </a:moveTo>
                <a:lnTo>
                  <a:pt x="1473041" y="0"/>
                </a:lnTo>
                <a:lnTo>
                  <a:pt x="1473041" y="499396"/>
                </a:lnTo>
                <a:lnTo>
                  <a:pt x="0" y="49939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1502007" y="5555247"/>
            <a:ext cx="1233897" cy="342357"/>
            <a:chOff x="0" y="0"/>
            <a:chExt cx="1645196" cy="4564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645158" cy="456438"/>
            </a:xfrm>
            <a:custGeom>
              <a:avLst/>
              <a:gdLst/>
              <a:ahLst/>
              <a:cxnLst/>
              <a:rect r="r" b="b" t="t" l="l"/>
              <a:pathLst>
                <a:path h="456438" w="1645158">
                  <a:moveTo>
                    <a:pt x="0" y="0"/>
                  </a:moveTo>
                  <a:lnTo>
                    <a:pt x="1645158" y="0"/>
                  </a:lnTo>
                  <a:lnTo>
                    <a:pt x="164515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78" r="-2" b="-20189"/>
              </a:stretch>
            </a:blip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502007" y="5548103"/>
            <a:ext cx="1233897" cy="349501"/>
            <a:chOff x="0" y="0"/>
            <a:chExt cx="1645196" cy="46600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645196" cy="466001"/>
            </a:xfrm>
            <a:custGeom>
              <a:avLst/>
              <a:gdLst/>
              <a:ahLst/>
              <a:cxnLst/>
              <a:rect r="r" b="b" t="t" l="l"/>
              <a:pathLst>
                <a:path h="466001" w="1645196">
                  <a:moveTo>
                    <a:pt x="0" y="0"/>
                  </a:moveTo>
                  <a:lnTo>
                    <a:pt x="1645196" y="0"/>
                  </a:lnTo>
                  <a:lnTo>
                    <a:pt x="164519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791" r="0" b="-18791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9525"/>
              <a:ext cx="164519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7053D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UPDATE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481223" y="6532407"/>
            <a:ext cx="1233897" cy="342357"/>
            <a:chOff x="0" y="0"/>
            <a:chExt cx="1645196" cy="456476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645158" cy="456438"/>
            </a:xfrm>
            <a:custGeom>
              <a:avLst/>
              <a:gdLst/>
              <a:ahLst/>
              <a:cxnLst/>
              <a:rect r="r" b="b" t="t" l="l"/>
              <a:pathLst>
                <a:path h="456438" w="1645158">
                  <a:moveTo>
                    <a:pt x="0" y="0"/>
                  </a:moveTo>
                  <a:lnTo>
                    <a:pt x="1645158" y="0"/>
                  </a:lnTo>
                  <a:lnTo>
                    <a:pt x="164515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6">
                <a:alphaModFix amt="0"/>
              </a:blip>
              <a:stretch>
                <a:fillRect l="0" t="-20178" r="-2" b="-20189"/>
              </a:stretch>
            </a:blipFill>
          </p:spPr>
        </p:sp>
      </p:grpSp>
      <p:grpSp>
        <p:nvGrpSpPr>
          <p:cNvPr name="Group 67" id="67"/>
          <p:cNvGrpSpPr/>
          <p:nvPr/>
        </p:nvGrpSpPr>
        <p:grpSpPr>
          <a:xfrm rot="0">
            <a:off x="1481223" y="6525263"/>
            <a:ext cx="1233897" cy="349501"/>
            <a:chOff x="0" y="0"/>
            <a:chExt cx="1645196" cy="466001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1645196" cy="466001"/>
            </a:xfrm>
            <a:custGeom>
              <a:avLst/>
              <a:gdLst/>
              <a:ahLst/>
              <a:cxnLst/>
              <a:rect r="r" b="b" t="t" l="l"/>
              <a:pathLst>
                <a:path h="466001" w="1645196">
                  <a:moveTo>
                    <a:pt x="0" y="0"/>
                  </a:moveTo>
                  <a:lnTo>
                    <a:pt x="1645196" y="0"/>
                  </a:lnTo>
                  <a:lnTo>
                    <a:pt x="164519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7">
                <a:alphaModFix amt="0"/>
              </a:blip>
              <a:stretch>
                <a:fillRect l="0" t="-18791" r="0" b="-18791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9525"/>
              <a:ext cx="164519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20"/>
                </a:lnSpc>
              </a:pPr>
              <a:r>
                <a:rPr lang="en-US" sz="1350" b="true">
                  <a:solidFill>
                    <a:srgbClr val="F5A441"/>
                  </a:solidFill>
                  <a:latin typeface="Aptos Bold"/>
                  <a:ea typeface="Aptos Bold"/>
                  <a:cs typeface="Aptos Bold"/>
                  <a:sym typeface="Aptos Bold"/>
                </a:rPr>
                <a:t>DELETE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71" id="71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44626" y="8062798"/>
            <a:ext cx="2563558" cy="2563558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0497" y="521103"/>
            <a:ext cx="438857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10 • BACKEND DEEP DIVE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Service • catalog &amp; purchase entry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Port 8082 • database: finance_product_db • table: products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43451" y="2342588"/>
            <a:ext cx="5107686" cy="2021586"/>
          </a:xfrm>
          <a:custGeom>
            <a:avLst/>
            <a:gdLst/>
            <a:ahLst/>
            <a:cxnLst/>
            <a:rect r="r" b="b" t="t" l="l"/>
            <a:pathLst>
              <a:path h="2021586" w="5107686">
                <a:moveTo>
                  <a:pt x="0" y="0"/>
                </a:moveTo>
                <a:lnTo>
                  <a:pt x="5107686" y="0"/>
                </a:lnTo>
                <a:lnTo>
                  <a:pt x="5107686" y="2021586"/>
                </a:lnTo>
                <a:lnTo>
                  <a:pt x="0" y="2021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943451" y="2342588"/>
            <a:ext cx="128873" cy="2021586"/>
            <a:chOff x="0" y="0"/>
            <a:chExt cx="171831" cy="269544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1831" cy="2695448"/>
            </a:xfrm>
            <a:custGeom>
              <a:avLst/>
              <a:gdLst/>
              <a:ahLst/>
              <a:cxnLst/>
              <a:rect r="r" b="b" t="t" l="l"/>
              <a:pathLst>
                <a:path h="269544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695448"/>
                  </a:lnTo>
                  <a:lnTo>
                    <a:pt x="0" y="2695448"/>
                  </a:lnTo>
                  <a:close/>
                </a:path>
              </a:pathLst>
            </a:custGeom>
            <a:solidFill>
              <a:srgbClr val="37B5AA"/>
            </a:solidFill>
            <a:ln w="19050" cap="sq">
              <a:solidFill>
                <a:srgbClr val="37B5AA"/>
              </a:solidFill>
              <a:prstDash val="solid"/>
              <a:miter/>
            </a:ln>
          </p:spPr>
        </p:sp>
      </p:grpSp>
      <p:sp>
        <p:nvSpPr>
          <p:cNvPr name="TextBox 10" id="10"/>
          <p:cNvSpPr txBox="true"/>
          <p:nvPr/>
        </p:nvSpPr>
        <p:spPr>
          <a:xfrm rot="0">
            <a:off x="1380782" y="2697842"/>
            <a:ext cx="434267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Catalog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80782" y="3383642"/>
            <a:ext cx="4233062" cy="68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Get all products, get by ID,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search by name and category.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943451" y="4564694"/>
            <a:ext cx="5107686" cy="2021586"/>
          </a:xfrm>
          <a:custGeom>
            <a:avLst/>
            <a:gdLst/>
            <a:ahLst/>
            <a:cxnLst/>
            <a:rect r="r" b="b" t="t" l="l"/>
            <a:pathLst>
              <a:path h="2021586" w="5107686">
                <a:moveTo>
                  <a:pt x="0" y="0"/>
                </a:moveTo>
                <a:lnTo>
                  <a:pt x="5107686" y="0"/>
                </a:lnTo>
                <a:lnTo>
                  <a:pt x="5107686" y="2021586"/>
                </a:lnTo>
                <a:lnTo>
                  <a:pt x="0" y="2021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43451" y="4564694"/>
            <a:ext cx="128873" cy="2021586"/>
            <a:chOff x="0" y="0"/>
            <a:chExt cx="171831" cy="269544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71831" cy="2695448"/>
            </a:xfrm>
            <a:custGeom>
              <a:avLst/>
              <a:gdLst/>
              <a:ahLst/>
              <a:cxnLst/>
              <a:rect r="r" b="b" t="t" l="l"/>
              <a:pathLst>
                <a:path h="269544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695448"/>
                  </a:lnTo>
                  <a:lnTo>
                    <a:pt x="0" y="2695448"/>
                  </a:lnTo>
                  <a:close/>
                </a:path>
              </a:pathLst>
            </a:custGeom>
            <a:solidFill>
              <a:srgbClr val="4870D6"/>
            </a:solidFill>
            <a:ln w="19050" cap="sq">
              <a:solidFill>
                <a:srgbClr val="4870D6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380782" y="4919396"/>
            <a:ext cx="434267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management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80782" y="5605196"/>
            <a:ext cx="4233062" cy="68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Add, update and delete products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through REST endpoints.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943451" y="6786248"/>
            <a:ext cx="5107686" cy="2021586"/>
          </a:xfrm>
          <a:custGeom>
            <a:avLst/>
            <a:gdLst/>
            <a:ahLst/>
            <a:cxnLst/>
            <a:rect r="r" b="b" t="t" l="l"/>
            <a:pathLst>
              <a:path h="2021586" w="5107686">
                <a:moveTo>
                  <a:pt x="0" y="0"/>
                </a:moveTo>
                <a:lnTo>
                  <a:pt x="5107686" y="0"/>
                </a:lnTo>
                <a:lnTo>
                  <a:pt x="5107686" y="2021586"/>
                </a:lnTo>
                <a:lnTo>
                  <a:pt x="0" y="20215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43451" y="6786248"/>
            <a:ext cx="128873" cy="2021586"/>
            <a:chOff x="0" y="0"/>
            <a:chExt cx="171831" cy="269544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71831" cy="2695448"/>
            </a:xfrm>
            <a:custGeom>
              <a:avLst/>
              <a:gdLst/>
              <a:ahLst/>
              <a:cxnLst/>
              <a:rect r="r" b="b" t="t" l="l"/>
              <a:pathLst>
                <a:path h="2695448" w="171831">
                  <a:moveTo>
                    <a:pt x="0" y="0"/>
                  </a:moveTo>
                  <a:lnTo>
                    <a:pt x="171831" y="0"/>
                  </a:lnTo>
                  <a:lnTo>
                    <a:pt x="171831" y="2695448"/>
                  </a:lnTo>
                  <a:lnTo>
                    <a:pt x="0" y="2695448"/>
                  </a:lnTo>
                  <a:close/>
                </a:path>
              </a:pathLst>
            </a:custGeom>
            <a:solidFill>
              <a:srgbClr val="7760D2"/>
            </a:solidFill>
            <a:ln w="19050" cap="sq">
              <a:solidFill>
                <a:srgbClr val="7760D2"/>
              </a:solidFill>
              <a:prstDash val="solid"/>
              <a:miter/>
            </a:ln>
          </p:spPr>
        </p:sp>
      </p:grpSp>
      <p:sp>
        <p:nvSpPr>
          <p:cNvPr name="TextBox 20" id="20"/>
          <p:cNvSpPr txBox="true"/>
          <p:nvPr/>
        </p:nvSpPr>
        <p:spPr>
          <a:xfrm rot="0">
            <a:off x="1380782" y="7141502"/>
            <a:ext cx="4342676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Purchase initiation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80782" y="7827302"/>
            <a:ext cx="4233062" cy="6803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POST /api/products/purchase</a:t>
            </a:r>
          </a:p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and automatic stock update.</a:t>
            </a:r>
          </a:p>
        </p:txBody>
      </p:sp>
      <p:sp>
        <p:nvSpPr>
          <p:cNvPr name="AutoShape 22" id="22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498431" y="2342588"/>
            <a:ext cx="10799826" cy="6465856"/>
          </a:xfrm>
          <a:custGeom>
            <a:avLst/>
            <a:gdLst/>
            <a:ahLst/>
            <a:cxnLst/>
            <a:rect r="r" b="b" t="t" l="l"/>
            <a:pathLst>
              <a:path h="6465856" w="10799826">
                <a:moveTo>
                  <a:pt x="0" y="0"/>
                </a:moveTo>
                <a:lnTo>
                  <a:pt x="10799826" y="0"/>
                </a:lnTo>
                <a:lnTo>
                  <a:pt x="10799826" y="6465856"/>
                </a:lnTo>
                <a:lnTo>
                  <a:pt x="0" y="646585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6967623" y="2770737"/>
            <a:ext cx="7954737" cy="493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02856"/>
                </a:solidFill>
                <a:latin typeface="Aptos Bold"/>
                <a:ea typeface="Aptos Bold"/>
                <a:cs typeface="Aptos Bold"/>
                <a:sym typeface="Aptos Bold"/>
              </a:rPr>
              <a:t>User &amp; account management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67623" y="3538623"/>
            <a:ext cx="9326337" cy="466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 b="true">
                <a:solidFill>
                  <a:srgbClr val="654EDC"/>
                </a:solidFill>
                <a:latin typeface="Aptos Bold"/>
                <a:ea typeface="Aptos Bold"/>
                <a:cs typeface="Aptos Bold"/>
                <a:sym typeface="Aptos Bold"/>
              </a:rPr>
              <a:t>Core responsibilities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67623" y="4046220"/>
            <a:ext cx="9189177" cy="1851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• User registration and login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• Profile, bank and card details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• Account recovery with OTP flow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• User activation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C6F91"/>
                </a:solidFill>
                <a:latin typeface="Aptos"/>
                <a:ea typeface="Aptos"/>
                <a:cs typeface="Aptos"/>
                <a:sym typeface="Aptos"/>
              </a:rPr>
              <a:t>• Protected frontend routes using Angular auth guard and interceptor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67623" y="6515100"/>
            <a:ext cx="287981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170DC"/>
                </a:solidFill>
                <a:latin typeface="Aptos Bold"/>
                <a:ea typeface="Aptos Bold"/>
                <a:cs typeface="Aptos Bold"/>
                <a:sym typeface="Aptos Bold"/>
              </a:rPr>
              <a:t>SERVICE ROLE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967623" y="7063740"/>
            <a:ext cx="9326337" cy="9595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02856"/>
                </a:solidFill>
                <a:latin typeface="Aptos"/>
                <a:ea typeface="Aptos"/>
                <a:cs typeface="Aptos"/>
                <a:sym typeface="Aptos"/>
              </a:rPr>
              <a:t>Owns user identity and account data for the finance application and works as an independent Spring Boot microservice.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5475829" y="-480060"/>
            <a:ext cx="3429000" cy="3429000"/>
            <a:chOff x="0" y="0"/>
            <a:chExt cx="3656838" cy="3656838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grpSp>
        <p:nvGrpSpPr>
          <p:cNvPr name="Group 33" id="33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34" id="34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8304"/>
            <a:ext cx="18320657" cy="10268696"/>
          </a:xfrm>
          <a:custGeom>
            <a:avLst/>
            <a:gdLst/>
            <a:ahLst/>
            <a:cxnLst/>
            <a:rect r="r" b="b" t="t" l="l"/>
            <a:pathLst>
              <a:path h="10268696" w="18320657">
                <a:moveTo>
                  <a:pt x="0" y="0"/>
                </a:moveTo>
                <a:lnTo>
                  <a:pt x="18320657" y="0"/>
                </a:lnTo>
                <a:lnTo>
                  <a:pt x="18320657" y="10268696"/>
                </a:lnTo>
                <a:lnTo>
                  <a:pt x="0" y="10268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028700" y="8137741"/>
            <a:ext cx="2834488" cy="2834488"/>
            <a:chOff x="0" y="0"/>
            <a:chExt cx="2833878" cy="283387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33878" cy="2833878"/>
            </a:xfrm>
            <a:custGeom>
              <a:avLst/>
              <a:gdLst/>
              <a:ahLst/>
              <a:cxnLst/>
              <a:rect r="r" b="b" t="t" l="l"/>
              <a:pathLst>
                <a:path h="2833878" w="2833878">
                  <a:moveTo>
                    <a:pt x="0" y="1416939"/>
                  </a:moveTo>
                  <a:cubicBezTo>
                    <a:pt x="0" y="634365"/>
                    <a:pt x="634365" y="0"/>
                    <a:pt x="1416939" y="0"/>
                  </a:cubicBezTo>
                  <a:cubicBezTo>
                    <a:pt x="2199513" y="0"/>
                    <a:pt x="2833878" y="634365"/>
                    <a:pt x="2833878" y="1416939"/>
                  </a:cubicBezTo>
                  <a:cubicBezTo>
                    <a:pt x="2833878" y="2199513"/>
                    <a:pt x="2199513" y="2833878"/>
                    <a:pt x="1416939" y="2833878"/>
                  </a:cubicBezTo>
                  <a:cubicBezTo>
                    <a:pt x="634365" y="2833878"/>
                    <a:pt x="0" y="2199513"/>
                    <a:pt x="0" y="1416939"/>
                  </a:cubicBezTo>
                  <a:close/>
                </a:path>
              </a:pathLst>
            </a:custGeom>
            <a:solidFill>
              <a:srgbClr val="D9EA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52278" y="-480060"/>
            <a:ext cx="3652552" cy="3652552"/>
            <a:chOff x="0" y="0"/>
            <a:chExt cx="3656838" cy="36568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656838" cy="3656838"/>
            </a:xfrm>
            <a:custGeom>
              <a:avLst/>
              <a:gdLst/>
              <a:ahLst/>
              <a:cxnLst/>
              <a:rect r="r" b="b" t="t" l="l"/>
              <a:pathLst>
                <a:path h="3656838" w="3656838">
                  <a:moveTo>
                    <a:pt x="0" y="1828419"/>
                  </a:moveTo>
                  <a:cubicBezTo>
                    <a:pt x="0" y="818642"/>
                    <a:pt x="818642" y="0"/>
                    <a:pt x="1828419" y="0"/>
                  </a:cubicBezTo>
                  <a:cubicBezTo>
                    <a:pt x="2838196" y="0"/>
                    <a:pt x="3656838" y="818642"/>
                    <a:pt x="3656838" y="1828419"/>
                  </a:cubicBezTo>
                  <a:cubicBezTo>
                    <a:pt x="3656838" y="2838196"/>
                    <a:pt x="2838323" y="3656838"/>
                    <a:pt x="1828419" y="3656838"/>
                  </a:cubicBezTo>
                  <a:cubicBezTo>
                    <a:pt x="818515" y="3656838"/>
                    <a:pt x="0" y="2838323"/>
                    <a:pt x="0" y="1828419"/>
                  </a:cubicBezTo>
                  <a:close/>
                </a:path>
              </a:pathLst>
            </a:custGeom>
            <a:solidFill>
              <a:srgbClr val="E8E0F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21103"/>
            <a:ext cx="438857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12 • BACKEND DEEP DIVE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7216" y="974846"/>
            <a:ext cx="15562259" cy="7574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 Service • centralized management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762" y="1778756"/>
            <a:ext cx="15836579" cy="502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Port 8084 • database: finance_admin_db • table: admins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0988" y="2342588"/>
            <a:ext cx="5176361" cy="6547961"/>
          </a:xfrm>
          <a:custGeom>
            <a:avLst/>
            <a:gdLst/>
            <a:ahLst/>
            <a:cxnLst/>
            <a:rect r="r" b="b" t="t" l="l"/>
            <a:pathLst>
              <a:path h="6547961" w="5176361">
                <a:moveTo>
                  <a:pt x="0" y="0"/>
                </a:moveTo>
                <a:lnTo>
                  <a:pt x="5176361" y="0"/>
                </a:lnTo>
                <a:lnTo>
                  <a:pt x="5176361" y="6547961"/>
                </a:lnTo>
                <a:lnTo>
                  <a:pt x="0" y="6547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435856" y="2807456"/>
            <a:ext cx="294353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Admin operations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9137" y="3574647"/>
            <a:ext cx="4114257" cy="2350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Add admin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Admin login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all admins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Get admin by ID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Delete admin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457388" y="2342588"/>
            <a:ext cx="5176361" cy="6547961"/>
          </a:xfrm>
          <a:custGeom>
            <a:avLst/>
            <a:gdLst/>
            <a:ahLst/>
            <a:cxnLst/>
            <a:rect r="r" b="b" t="t" l="l"/>
            <a:pathLst>
              <a:path h="6547961" w="5176361">
                <a:moveTo>
                  <a:pt x="0" y="0"/>
                </a:moveTo>
                <a:lnTo>
                  <a:pt x="5176361" y="0"/>
                </a:lnTo>
                <a:lnTo>
                  <a:pt x="5176361" y="6547961"/>
                </a:lnTo>
                <a:lnTo>
                  <a:pt x="0" y="65479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6922256" y="2807456"/>
            <a:ext cx="294353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 visibility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85537" y="3574647"/>
            <a:ext cx="4114257" cy="16644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all users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user by ID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Activate user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943788" y="2342588"/>
            <a:ext cx="5382101" cy="6547961"/>
          </a:xfrm>
          <a:custGeom>
            <a:avLst/>
            <a:gdLst/>
            <a:ahLst/>
            <a:cxnLst/>
            <a:rect r="r" b="b" t="t" l="l"/>
            <a:pathLst>
              <a:path h="6547961" w="5382101">
                <a:moveTo>
                  <a:pt x="0" y="0"/>
                </a:moveTo>
                <a:lnTo>
                  <a:pt x="5382101" y="0"/>
                </a:lnTo>
                <a:lnTo>
                  <a:pt x="5382101" y="6547961"/>
                </a:lnTo>
                <a:lnTo>
                  <a:pt x="0" y="65479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2408656" y="2807456"/>
            <a:ext cx="4040819" cy="365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8"/>
              </a:lnSpc>
            </a:pPr>
            <a:r>
              <a:rPr lang="en-US" sz="24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&amp; purchase visibility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371937" y="3574647"/>
            <a:ext cx="4251417" cy="20759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all products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product by ID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all purchases</a:t>
            </a:r>
          </a:p>
          <a:p>
            <a:pPr algn="l">
              <a:lnSpc>
                <a:spcPts val="2015"/>
              </a:lnSpc>
            </a:pPr>
            <a:r>
              <a:rPr lang="en-US" sz="1679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• View purchase by ID</a:t>
            </a:r>
          </a:p>
        </p:txBody>
      </p:sp>
      <p:sp>
        <p:nvSpPr>
          <p:cNvPr name="AutoShape 18" id="18"/>
          <p:cNvSpPr/>
          <p:nvPr/>
        </p:nvSpPr>
        <p:spPr>
          <a:xfrm rot="1980">
            <a:off x="835666" y="9756105"/>
            <a:ext cx="16598484" cy="0"/>
          </a:xfrm>
          <a:prstGeom prst="line">
            <a:avLst/>
          </a:prstGeom>
          <a:ln cap="rnd" w="9525">
            <a:solidFill>
              <a:srgbClr val="D3DEE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9" id="19"/>
          <p:cNvSpPr txBox="true"/>
          <p:nvPr/>
        </p:nvSpPr>
        <p:spPr>
          <a:xfrm rot="0">
            <a:off x="878043" y="9847983"/>
            <a:ext cx="822905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• Finance Management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01200" y="9847983"/>
            <a:ext cx="7817577" cy="2737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• Microservices • Angular • MySQL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77340" y="8407803"/>
            <a:ext cx="15292797" cy="38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Admin Service • centralized administration • user visibility • product visibility • purchase visibility</a:t>
            </a:r>
          </a:p>
        </p:txBody>
      </p:sp>
      <p:sp>
        <p:nvSpPr>
          <p:cNvPr name="Freeform 22" id="22"/>
          <p:cNvSpPr/>
          <p:nvPr/>
        </p:nvSpPr>
        <p:spPr>
          <a:xfrm flipH="false" flipV="false" rot="0">
            <a:off x="1387469" y="6462389"/>
            <a:ext cx="2148840" cy="599027"/>
          </a:xfrm>
          <a:custGeom>
            <a:avLst/>
            <a:gdLst/>
            <a:ahLst/>
            <a:cxnLst/>
            <a:rect r="r" b="b" t="t" l="l"/>
            <a:pathLst>
              <a:path h="599027" w="2148840">
                <a:moveTo>
                  <a:pt x="0" y="0"/>
                </a:moveTo>
                <a:lnTo>
                  <a:pt x="2148840" y="0"/>
                </a:lnTo>
                <a:lnTo>
                  <a:pt x="2148840" y="599027"/>
                </a:lnTo>
                <a:lnTo>
                  <a:pt x="0" y="59902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399137" y="6528597"/>
            <a:ext cx="2125437" cy="466020"/>
            <a:chOff x="0" y="0"/>
            <a:chExt cx="2833916" cy="6213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833878" cy="621411"/>
            </a:xfrm>
            <a:custGeom>
              <a:avLst/>
              <a:gdLst/>
              <a:ahLst/>
              <a:cxnLst/>
              <a:rect r="r" b="b" t="t" l="l"/>
              <a:pathLst>
                <a:path h="621411" w="2833878">
                  <a:moveTo>
                    <a:pt x="0" y="0"/>
                  </a:moveTo>
                  <a:lnTo>
                    <a:pt x="2833878" y="0"/>
                  </a:lnTo>
                  <a:lnTo>
                    <a:pt x="2833878" y="621411"/>
                  </a:lnTo>
                  <a:lnTo>
                    <a:pt x="0" y="6214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8802" r="-1" b="-38796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99137" y="6521453"/>
            <a:ext cx="2125437" cy="473164"/>
            <a:chOff x="0" y="0"/>
            <a:chExt cx="2833916" cy="63088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33916" cy="630885"/>
            </a:xfrm>
            <a:custGeom>
              <a:avLst/>
              <a:gdLst/>
              <a:ahLst/>
              <a:cxnLst/>
              <a:rect r="r" b="b" t="t" l="l"/>
              <a:pathLst>
                <a:path h="630885" w="2833916">
                  <a:moveTo>
                    <a:pt x="0" y="0"/>
                  </a:moveTo>
                  <a:lnTo>
                    <a:pt x="2833916" y="0"/>
                  </a:lnTo>
                  <a:lnTo>
                    <a:pt x="2833916" y="630885"/>
                  </a:lnTo>
                  <a:lnTo>
                    <a:pt x="0" y="63088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526" r="0" b="-3752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833916" cy="640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/admin/save</a:t>
              </a: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3760232" y="6462389"/>
            <a:ext cx="2148840" cy="599027"/>
          </a:xfrm>
          <a:custGeom>
            <a:avLst/>
            <a:gdLst/>
            <a:ahLst/>
            <a:cxnLst/>
            <a:rect r="r" b="b" t="t" l="l"/>
            <a:pathLst>
              <a:path h="599027" w="2148840">
                <a:moveTo>
                  <a:pt x="0" y="0"/>
                </a:moveTo>
                <a:lnTo>
                  <a:pt x="2148840" y="0"/>
                </a:lnTo>
                <a:lnTo>
                  <a:pt x="2148840" y="599027"/>
                </a:lnTo>
                <a:lnTo>
                  <a:pt x="0" y="599027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3771900" y="6528597"/>
            <a:ext cx="2125437" cy="466020"/>
            <a:chOff x="0" y="0"/>
            <a:chExt cx="2833916" cy="62136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33878" cy="621411"/>
            </a:xfrm>
            <a:custGeom>
              <a:avLst/>
              <a:gdLst/>
              <a:ahLst/>
              <a:cxnLst/>
              <a:rect r="r" b="b" t="t" l="l"/>
              <a:pathLst>
                <a:path h="621411" w="2833878">
                  <a:moveTo>
                    <a:pt x="0" y="0"/>
                  </a:moveTo>
                  <a:lnTo>
                    <a:pt x="2833878" y="0"/>
                  </a:lnTo>
                  <a:lnTo>
                    <a:pt x="2833878" y="621411"/>
                  </a:lnTo>
                  <a:lnTo>
                    <a:pt x="0" y="6214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38802" r="-1" b="-38796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3771900" y="6521453"/>
            <a:ext cx="2125437" cy="473164"/>
            <a:chOff x="0" y="0"/>
            <a:chExt cx="2833916" cy="630885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833916" cy="630885"/>
            </a:xfrm>
            <a:custGeom>
              <a:avLst/>
              <a:gdLst/>
              <a:ahLst/>
              <a:cxnLst/>
              <a:rect r="r" b="b" t="t" l="l"/>
              <a:pathLst>
                <a:path h="630885" w="2833916">
                  <a:moveTo>
                    <a:pt x="0" y="0"/>
                  </a:moveTo>
                  <a:lnTo>
                    <a:pt x="2833916" y="0"/>
                  </a:lnTo>
                  <a:lnTo>
                    <a:pt x="2833916" y="630885"/>
                  </a:lnTo>
                  <a:lnTo>
                    <a:pt x="0" y="63088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37526" r="0" b="-37526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2833916" cy="640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/admin/login</a:t>
              </a:r>
            </a:p>
          </p:txBody>
        </p:sp>
      </p:grpSp>
      <p:sp>
        <p:nvSpPr>
          <p:cNvPr name="Freeform 34" id="34"/>
          <p:cNvSpPr/>
          <p:nvPr/>
        </p:nvSpPr>
        <p:spPr>
          <a:xfrm flipH="false" flipV="false" rot="0">
            <a:off x="7148189" y="6462389"/>
            <a:ext cx="2286000" cy="599027"/>
          </a:xfrm>
          <a:custGeom>
            <a:avLst/>
            <a:gdLst/>
            <a:ahLst/>
            <a:cxnLst/>
            <a:rect r="r" b="b" t="t" l="l"/>
            <a:pathLst>
              <a:path h="599027" w="2286000">
                <a:moveTo>
                  <a:pt x="0" y="0"/>
                </a:moveTo>
                <a:lnTo>
                  <a:pt x="2286000" y="0"/>
                </a:lnTo>
                <a:lnTo>
                  <a:pt x="2286000" y="599027"/>
                </a:lnTo>
                <a:lnTo>
                  <a:pt x="0" y="59902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7159857" y="6528597"/>
            <a:ext cx="2262597" cy="466020"/>
            <a:chOff x="0" y="0"/>
            <a:chExt cx="3016796" cy="62136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016758" cy="621411"/>
            </a:xfrm>
            <a:custGeom>
              <a:avLst/>
              <a:gdLst/>
              <a:ahLst/>
              <a:cxnLst/>
              <a:rect r="r" b="b" t="t" l="l"/>
              <a:pathLst>
                <a:path h="621411" w="3016758">
                  <a:moveTo>
                    <a:pt x="0" y="0"/>
                  </a:moveTo>
                  <a:lnTo>
                    <a:pt x="3016758" y="0"/>
                  </a:lnTo>
                  <a:lnTo>
                    <a:pt x="3016758" y="621411"/>
                  </a:lnTo>
                  <a:lnTo>
                    <a:pt x="0" y="6214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533" r="-1" b="-44524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7159857" y="6521453"/>
            <a:ext cx="2262597" cy="473164"/>
            <a:chOff x="0" y="0"/>
            <a:chExt cx="3016796" cy="63088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016796" cy="630885"/>
            </a:xfrm>
            <a:custGeom>
              <a:avLst/>
              <a:gdLst/>
              <a:ahLst/>
              <a:cxnLst/>
              <a:rect r="r" b="b" t="t" l="l"/>
              <a:pathLst>
                <a:path h="630885" w="3016796">
                  <a:moveTo>
                    <a:pt x="0" y="0"/>
                  </a:moveTo>
                  <a:lnTo>
                    <a:pt x="3016796" y="0"/>
                  </a:lnTo>
                  <a:lnTo>
                    <a:pt x="3016796" y="630885"/>
                  </a:lnTo>
                  <a:lnTo>
                    <a:pt x="0" y="63088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174" r="0" b="-43174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9525"/>
              <a:ext cx="3016796" cy="640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USER-SERVICE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12579515" y="6462389"/>
            <a:ext cx="2286000" cy="599027"/>
          </a:xfrm>
          <a:custGeom>
            <a:avLst/>
            <a:gdLst/>
            <a:ahLst/>
            <a:cxnLst/>
            <a:rect r="r" b="b" t="t" l="l"/>
            <a:pathLst>
              <a:path h="599027" w="2286000">
                <a:moveTo>
                  <a:pt x="0" y="0"/>
                </a:moveTo>
                <a:lnTo>
                  <a:pt x="2286000" y="0"/>
                </a:lnTo>
                <a:lnTo>
                  <a:pt x="2286000" y="599027"/>
                </a:lnTo>
                <a:lnTo>
                  <a:pt x="0" y="599027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2591183" y="6528597"/>
            <a:ext cx="2262597" cy="466020"/>
            <a:chOff x="0" y="0"/>
            <a:chExt cx="3016796" cy="62136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016758" cy="621411"/>
            </a:xfrm>
            <a:custGeom>
              <a:avLst/>
              <a:gdLst/>
              <a:ahLst/>
              <a:cxnLst/>
              <a:rect r="r" b="b" t="t" l="l"/>
              <a:pathLst>
                <a:path h="621411" w="3016758">
                  <a:moveTo>
                    <a:pt x="0" y="0"/>
                  </a:moveTo>
                  <a:lnTo>
                    <a:pt x="3016758" y="0"/>
                  </a:lnTo>
                  <a:lnTo>
                    <a:pt x="3016758" y="621411"/>
                  </a:lnTo>
                  <a:lnTo>
                    <a:pt x="0" y="6214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44533" r="-1" b="-44524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591183" y="6521453"/>
            <a:ext cx="2262597" cy="473164"/>
            <a:chOff x="0" y="0"/>
            <a:chExt cx="3016796" cy="630885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016796" cy="630885"/>
            </a:xfrm>
            <a:custGeom>
              <a:avLst/>
              <a:gdLst/>
              <a:ahLst/>
              <a:cxnLst/>
              <a:rect r="r" b="b" t="t" l="l"/>
              <a:pathLst>
                <a:path h="630885" w="3016796">
                  <a:moveTo>
                    <a:pt x="0" y="0"/>
                  </a:moveTo>
                  <a:lnTo>
                    <a:pt x="3016796" y="0"/>
                  </a:lnTo>
                  <a:lnTo>
                    <a:pt x="3016796" y="630885"/>
                  </a:lnTo>
                  <a:lnTo>
                    <a:pt x="0" y="63088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43174" r="0" b="-43174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3016796" cy="640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FFFF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PRODUCT-SERVICE</a:t>
              </a:r>
            </a:p>
          </p:txBody>
        </p:sp>
      </p:grpSp>
      <p:sp>
        <p:nvSpPr>
          <p:cNvPr name="Freeform 46" id="46"/>
          <p:cNvSpPr/>
          <p:nvPr/>
        </p:nvSpPr>
        <p:spPr>
          <a:xfrm flipH="false" flipV="false" rot="0">
            <a:off x="14829149" y="6462389"/>
            <a:ext cx="1874520" cy="599027"/>
          </a:xfrm>
          <a:custGeom>
            <a:avLst/>
            <a:gdLst/>
            <a:ahLst/>
            <a:cxnLst/>
            <a:rect r="r" b="b" t="t" l="l"/>
            <a:pathLst>
              <a:path h="599027" w="1874520">
                <a:moveTo>
                  <a:pt x="0" y="0"/>
                </a:moveTo>
                <a:lnTo>
                  <a:pt x="1874520" y="0"/>
                </a:lnTo>
                <a:lnTo>
                  <a:pt x="1874520" y="599027"/>
                </a:lnTo>
                <a:lnTo>
                  <a:pt x="0" y="59902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4840817" y="6528597"/>
            <a:ext cx="1851117" cy="466020"/>
            <a:chOff x="0" y="0"/>
            <a:chExt cx="2468156" cy="6213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468118" cy="621411"/>
            </a:xfrm>
            <a:custGeom>
              <a:avLst/>
              <a:gdLst/>
              <a:ahLst/>
              <a:cxnLst/>
              <a:rect r="r" b="b" t="t" l="l"/>
              <a:pathLst>
                <a:path h="621411" w="2468118">
                  <a:moveTo>
                    <a:pt x="0" y="0"/>
                  </a:moveTo>
                  <a:lnTo>
                    <a:pt x="2468118" y="0"/>
                  </a:lnTo>
                  <a:lnTo>
                    <a:pt x="2468118" y="621411"/>
                  </a:lnTo>
                  <a:lnTo>
                    <a:pt x="0" y="62141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27343" r="-1" b="-27332"/>
              </a:stretch>
            </a:blip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840817" y="6521453"/>
            <a:ext cx="1851117" cy="473164"/>
            <a:chOff x="0" y="0"/>
            <a:chExt cx="2468156" cy="630885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468156" cy="630885"/>
            </a:xfrm>
            <a:custGeom>
              <a:avLst/>
              <a:gdLst/>
              <a:ahLst/>
              <a:cxnLst/>
              <a:rect r="r" b="b" t="t" l="l"/>
              <a:pathLst>
                <a:path h="630885" w="2468156">
                  <a:moveTo>
                    <a:pt x="0" y="0"/>
                  </a:moveTo>
                  <a:lnTo>
                    <a:pt x="2468156" y="0"/>
                  </a:lnTo>
                  <a:lnTo>
                    <a:pt x="2468156" y="630885"/>
                  </a:lnTo>
                  <a:lnTo>
                    <a:pt x="0" y="630885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26229" r="0" b="-26229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9525"/>
              <a:ext cx="2468156" cy="6404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7656D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FINANCE-SERVICE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7022697" y="7159857"/>
            <a:ext cx="4182837" cy="438483"/>
            <a:chOff x="0" y="0"/>
            <a:chExt cx="5577116" cy="584644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577078" cy="584581"/>
            </a:xfrm>
            <a:custGeom>
              <a:avLst/>
              <a:gdLst/>
              <a:ahLst/>
              <a:cxnLst/>
              <a:rect r="r" b="b" t="t" l="l"/>
              <a:pathLst>
                <a:path h="584581" w="5577078">
                  <a:moveTo>
                    <a:pt x="0" y="0"/>
                  </a:moveTo>
                  <a:lnTo>
                    <a:pt x="5577078" y="0"/>
                  </a:lnTo>
                  <a:lnTo>
                    <a:pt x="5577078" y="584581"/>
                  </a:lnTo>
                  <a:lnTo>
                    <a:pt x="0" y="584581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135759" r="0" b="-135770"/>
              </a:stretch>
            </a:blip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7022697" y="7159857"/>
            <a:ext cx="4182837" cy="438483"/>
            <a:chOff x="0" y="0"/>
            <a:chExt cx="5577116" cy="584644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5577116" cy="584644"/>
            </a:xfrm>
            <a:custGeom>
              <a:avLst/>
              <a:gdLst/>
              <a:ahLst/>
              <a:cxnLst/>
              <a:rect r="r" b="b" t="t" l="l"/>
              <a:pathLst>
                <a:path h="584644" w="5577116">
                  <a:moveTo>
                    <a:pt x="0" y="0"/>
                  </a:moveTo>
                  <a:lnTo>
                    <a:pt x="5577116" y="0"/>
                  </a:lnTo>
                  <a:lnTo>
                    <a:pt x="5577116" y="584644"/>
                  </a:lnTo>
                  <a:lnTo>
                    <a:pt x="0" y="584644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135874" r="0" b="-135874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0"/>
              <a:ext cx="5577116" cy="58464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09"/>
                </a:lnSpc>
              </a:pPr>
              <a:r>
                <a:rPr lang="en-US" sz="1425">
                  <a:solidFill>
                    <a:srgbClr val="5D718F"/>
                  </a:solidFill>
                  <a:latin typeface="Aptos"/>
                  <a:ea typeface="Aptos"/>
                  <a:cs typeface="Aptos"/>
                  <a:sym typeface="Aptos"/>
                </a:rPr>
                <a:t>Uses UserServiceClient via OpenFeign.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1149191" y="8103308"/>
            <a:ext cx="16149066" cy="965359"/>
          </a:xfrm>
          <a:custGeom>
            <a:avLst/>
            <a:gdLst/>
            <a:ahLst/>
            <a:cxnLst/>
            <a:rect r="r" b="b" t="t" l="l"/>
            <a:pathLst>
              <a:path h="965359" w="16149066">
                <a:moveTo>
                  <a:pt x="0" y="0"/>
                </a:moveTo>
                <a:lnTo>
                  <a:pt x="16149066" y="0"/>
                </a:lnTo>
                <a:lnTo>
                  <a:pt x="16149066" y="965359"/>
                </a:lnTo>
                <a:lnTo>
                  <a:pt x="0" y="965359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8" id="58"/>
          <p:cNvGrpSpPr/>
          <p:nvPr/>
        </p:nvGrpSpPr>
        <p:grpSpPr>
          <a:xfrm rot="0">
            <a:off x="1577340" y="8380257"/>
            <a:ext cx="15292797" cy="342357"/>
            <a:chOff x="0" y="0"/>
            <a:chExt cx="20390396" cy="456476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20390358" cy="456438"/>
            </a:xfrm>
            <a:custGeom>
              <a:avLst/>
              <a:gdLst/>
              <a:ahLst/>
              <a:cxnLst/>
              <a:rect r="r" b="b" t="t" l="l"/>
              <a:pathLst>
                <a:path h="456438" w="20390358">
                  <a:moveTo>
                    <a:pt x="0" y="0"/>
                  </a:moveTo>
                  <a:lnTo>
                    <a:pt x="20390358" y="0"/>
                  </a:lnTo>
                  <a:lnTo>
                    <a:pt x="2039035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8">
                <a:alphaModFix amt="0"/>
              </a:blip>
              <a:stretch>
                <a:fillRect l="0" t="-819844" r="0" b="-819849"/>
              </a:stretch>
            </a:blip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1577340" y="8380257"/>
            <a:ext cx="15292797" cy="342357"/>
            <a:chOff x="0" y="0"/>
            <a:chExt cx="20390396" cy="456476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20390396" cy="456476"/>
            </a:xfrm>
            <a:custGeom>
              <a:avLst/>
              <a:gdLst/>
              <a:ahLst/>
              <a:cxnLst/>
              <a:rect r="r" b="b" t="t" l="l"/>
              <a:pathLst>
                <a:path h="456476" w="20390396">
                  <a:moveTo>
                    <a:pt x="0" y="0"/>
                  </a:moveTo>
                  <a:lnTo>
                    <a:pt x="20390396" y="0"/>
                  </a:lnTo>
                  <a:lnTo>
                    <a:pt x="20390396" y="456476"/>
                  </a:lnTo>
                  <a:lnTo>
                    <a:pt x="0" y="456476"/>
                  </a:lnTo>
                  <a:close/>
                </a:path>
              </a:pathLst>
            </a:custGeom>
            <a:blipFill>
              <a:blip r:embed="rId9">
                <a:alphaModFix amt="0"/>
              </a:blip>
              <a:stretch>
                <a:fillRect l="0" t="-820380" r="0" b="-820380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0"/>
              <a:ext cx="20390396" cy="45647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854"/>
                </a:lnSpc>
              </a:pPr>
              <a:r>
                <a:rPr lang="en-US" sz="1545" b="true">
                  <a:solidFill>
                    <a:srgbClr val="17345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 Service • centralized administration • user visibility • product visibility • purchase visibility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64" id="64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1540" y="8120739"/>
            <a:ext cx="2851490" cy="2851490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10958" y="-617220"/>
            <a:ext cx="3716550" cy="3716550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13 • INTEGRATION &amp; INFRASTRUCTURE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How the services communicate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035" y="1937699"/>
            <a:ext cx="15181383" cy="4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API Gateway handles entry and routing; Eureka supports discovery; OpenFeign defines service calls.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41874" y="2428837"/>
            <a:ext cx="5167932" cy="2973372"/>
          </a:xfrm>
          <a:custGeom>
            <a:avLst/>
            <a:gdLst/>
            <a:ahLst/>
            <a:cxnLst/>
            <a:rect r="r" b="b" t="t" l="l"/>
            <a:pathLst>
              <a:path h="2973372" w="5167932">
                <a:moveTo>
                  <a:pt x="0" y="0"/>
                </a:moveTo>
                <a:lnTo>
                  <a:pt x="5167931" y="0"/>
                </a:lnTo>
                <a:lnTo>
                  <a:pt x="5167931" y="2973372"/>
                </a:lnTo>
                <a:lnTo>
                  <a:pt x="0" y="2973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54380" y="2441343"/>
            <a:ext cx="5142929" cy="95536"/>
            <a:chOff x="0" y="0"/>
            <a:chExt cx="6857238" cy="1273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7238" cy="127381"/>
            </a:xfrm>
            <a:custGeom>
              <a:avLst/>
              <a:gdLst/>
              <a:ahLst/>
              <a:cxnLst/>
              <a:rect r="r" b="b" t="t" l="l"/>
              <a:pathLst>
                <a:path h="127381" w="6857238">
                  <a:moveTo>
                    <a:pt x="0" y="0"/>
                  </a:moveTo>
                  <a:lnTo>
                    <a:pt x="6857238" y="0"/>
                  </a:lnTo>
                  <a:lnTo>
                    <a:pt x="68572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46238" y="2870283"/>
            <a:ext cx="435924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API Gateway • 8080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56237" y="3511077"/>
            <a:ext cx="4539244" cy="130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Single entry point for the Angular client.</a:t>
            </a:r>
          </a:p>
          <a:p>
            <a:pPr algn="l">
              <a:lnSpc>
                <a:spcPts val="1924"/>
              </a:lnSpc>
            </a:pPr>
          </a:p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Routes requests to the appropriate backend service.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571174" y="2428837"/>
            <a:ext cx="5167932" cy="2973372"/>
          </a:xfrm>
          <a:custGeom>
            <a:avLst/>
            <a:gdLst/>
            <a:ahLst/>
            <a:cxnLst/>
            <a:rect r="r" b="b" t="t" l="l"/>
            <a:pathLst>
              <a:path h="2973372" w="5167932">
                <a:moveTo>
                  <a:pt x="0" y="0"/>
                </a:moveTo>
                <a:lnTo>
                  <a:pt x="5167931" y="0"/>
                </a:lnTo>
                <a:lnTo>
                  <a:pt x="5167931" y="2973372"/>
                </a:lnTo>
                <a:lnTo>
                  <a:pt x="0" y="2973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583680" y="2441343"/>
            <a:ext cx="5142929" cy="95536"/>
            <a:chOff x="0" y="0"/>
            <a:chExt cx="6857238" cy="127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857238" cy="127381"/>
            </a:xfrm>
            <a:custGeom>
              <a:avLst/>
              <a:gdLst/>
              <a:ahLst/>
              <a:cxnLst/>
              <a:rect r="r" b="b" t="t" l="l"/>
              <a:pathLst>
                <a:path h="127381" w="6857238">
                  <a:moveTo>
                    <a:pt x="0" y="0"/>
                  </a:moveTo>
                  <a:lnTo>
                    <a:pt x="6857238" y="0"/>
                  </a:lnTo>
                  <a:lnTo>
                    <a:pt x="68572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975538" y="2870283"/>
            <a:ext cx="435924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Eureka • 8761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85537" y="3511077"/>
            <a:ext cx="4539244" cy="130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Service registration and discovery.</a:t>
            </a:r>
          </a:p>
          <a:p>
            <a:pPr algn="l">
              <a:lnSpc>
                <a:spcPts val="1924"/>
              </a:lnSpc>
            </a:pPr>
          </a:p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Backend services register so callers can resolve service instances.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400474" y="2428837"/>
            <a:ext cx="5167932" cy="2973372"/>
          </a:xfrm>
          <a:custGeom>
            <a:avLst/>
            <a:gdLst/>
            <a:ahLst/>
            <a:cxnLst/>
            <a:rect r="r" b="b" t="t" l="l"/>
            <a:pathLst>
              <a:path h="2973372" w="5167932">
                <a:moveTo>
                  <a:pt x="0" y="0"/>
                </a:moveTo>
                <a:lnTo>
                  <a:pt x="5167931" y="0"/>
                </a:lnTo>
                <a:lnTo>
                  <a:pt x="5167931" y="2973372"/>
                </a:lnTo>
                <a:lnTo>
                  <a:pt x="0" y="2973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412980" y="2441343"/>
            <a:ext cx="5142929" cy="95536"/>
            <a:chOff x="0" y="0"/>
            <a:chExt cx="6857238" cy="1273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857238" cy="127381"/>
            </a:xfrm>
            <a:custGeom>
              <a:avLst/>
              <a:gdLst/>
              <a:ahLst/>
              <a:cxnLst/>
              <a:rect r="r" b="b" t="t" l="l"/>
              <a:pathLst>
                <a:path h="127381" w="6857238">
                  <a:moveTo>
                    <a:pt x="0" y="0"/>
                  </a:moveTo>
                  <a:lnTo>
                    <a:pt x="6857238" y="0"/>
                  </a:lnTo>
                  <a:lnTo>
                    <a:pt x="68572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804838" y="2870283"/>
            <a:ext cx="435924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OpenFeign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714837" y="3511077"/>
            <a:ext cx="4539244" cy="1302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Typed client-based calls between services.</a:t>
            </a:r>
          </a:p>
          <a:p>
            <a:pPr algn="l">
              <a:lnSpc>
                <a:spcPts val="1924"/>
              </a:lnSpc>
            </a:pPr>
          </a:p>
          <a:p>
            <a:pPr algn="l">
              <a:lnSpc>
                <a:spcPts val="1924"/>
              </a:lnSpc>
            </a:pPr>
            <a:r>
              <a:rPr lang="en-US" sz="1604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Keeps cross-service integration explicit.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34440" y="5966460"/>
            <a:ext cx="15910017" cy="47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REQUEST FLOW</a:t>
            </a:r>
          </a:p>
        </p:txBody>
      </p:sp>
      <p:sp>
        <p:nvSpPr>
          <p:cNvPr name="Freeform 29" id="29"/>
          <p:cNvSpPr/>
          <p:nvPr/>
        </p:nvSpPr>
        <p:spPr>
          <a:xfrm flipH="false" flipV="false" rot="0">
            <a:off x="1354931" y="6594548"/>
            <a:ext cx="2913126" cy="1335691"/>
          </a:xfrm>
          <a:custGeom>
            <a:avLst/>
            <a:gdLst/>
            <a:ahLst/>
            <a:cxnLst/>
            <a:rect r="r" b="b" t="t" l="l"/>
            <a:pathLst>
              <a:path h="1335691" w="2913126">
                <a:moveTo>
                  <a:pt x="0" y="0"/>
                </a:moveTo>
                <a:lnTo>
                  <a:pt x="2913126" y="0"/>
                </a:lnTo>
                <a:lnTo>
                  <a:pt x="2913126" y="1335691"/>
                </a:lnTo>
                <a:lnTo>
                  <a:pt x="0" y="133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371600" y="6611217"/>
            <a:ext cx="2879788" cy="81534"/>
            <a:chOff x="0" y="0"/>
            <a:chExt cx="3839718" cy="10871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39718" cy="108712"/>
            </a:xfrm>
            <a:custGeom>
              <a:avLst/>
              <a:gdLst/>
              <a:ahLst/>
              <a:cxnLst/>
              <a:rect r="r" b="b" t="t" l="l"/>
              <a:pathLst>
                <a:path h="108712" w="3839718">
                  <a:moveTo>
                    <a:pt x="0" y="0"/>
                  </a:moveTo>
                  <a:lnTo>
                    <a:pt x="3839718" y="0"/>
                  </a:lnTo>
                  <a:lnTo>
                    <a:pt x="3839718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4E78D9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536297" y="6885537"/>
            <a:ext cx="2550424" cy="3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ANGULAR CLIENT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536297" y="7291473"/>
            <a:ext cx="2550424" cy="29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4200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5538311" y="6594548"/>
            <a:ext cx="2913126" cy="1335691"/>
          </a:xfrm>
          <a:custGeom>
            <a:avLst/>
            <a:gdLst/>
            <a:ahLst/>
            <a:cxnLst/>
            <a:rect r="r" b="b" t="t" l="l"/>
            <a:pathLst>
              <a:path h="1335691" w="2913126">
                <a:moveTo>
                  <a:pt x="0" y="0"/>
                </a:moveTo>
                <a:lnTo>
                  <a:pt x="2913126" y="0"/>
                </a:lnTo>
                <a:lnTo>
                  <a:pt x="2913126" y="1335691"/>
                </a:lnTo>
                <a:lnTo>
                  <a:pt x="0" y="133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5554980" y="6611217"/>
            <a:ext cx="2879788" cy="81534"/>
            <a:chOff x="0" y="0"/>
            <a:chExt cx="3839718" cy="10871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839718" cy="108712"/>
            </a:xfrm>
            <a:custGeom>
              <a:avLst/>
              <a:gdLst/>
              <a:ahLst/>
              <a:cxnLst/>
              <a:rect r="r" b="b" t="t" l="l"/>
              <a:pathLst>
                <a:path h="108712" w="3839718">
                  <a:moveTo>
                    <a:pt x="0" y="0"/>
                  </a:moveTo>
                  <a:lnTo>
                    <a:pt x="3839718" y="0"/>
                  </a:lnTo>
                  <a:lnTo>
                    <a:pt x="3839718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7656D9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5719677" y="6885537"/>
            <a:ext cx="2550424" cy="3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API GATEWAY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719677" y="7291473"/>
            <a:ext cx="2550424" cy="29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8080</a:t>
            </a:r>
          </a:p>
        </p:txBody>
      </p:sp>
      <p:sp>
        <p:nvSpPr>
          <p:cNvPr name="Freeform 39" id="39"/>
          <p:cNvSpPr/>
          <p:nvPr/>
        </p:nvSpPr>
        <p:spPr>
          <a:xfrm flipH="false" flipV="false" rot="0">
            <a:off x="9721691" y="6594548"/>
            <a:ext cx="2913126" cy="1335691"/>
          </a:xfrm>
          <a:custGeom>
            <a:avLst/>
            <a:gdLst/>
            <a:ahLst/>
            <a:cxnLst/>
            <a:rect r="r" b="b" t="t" l="l"/>
            <a:pathLst>
              <a:path h="1335691" w="2913126">
                <a:moveTo>
                  <a:pt x="0" y="0"/>
                </a:moveTo>
                <a:lnTo>
                  <a:pt x="2913126" y="0"/>
                </a:lnTo>
                <a:lnTo>
                  <a:pt x="2913126" y="1335691"/>
                </a:lnTo>
                <a:lnTo>
                  <a:pt x="0" y="133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9738360" y="6611217"/>
            <a:ext cx="2879788" cy="81534"/>
            <a:chOff x="0" y="0"/>
            <a:chExt cx="3839718" cy="108712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839718" cy="108712"/>
            </a:xfrm>
            <a:custGeom>
              <a:avLst/>
              <a:gdLst/>
              <a:ahLst/>
              <a:cxnLst/>
              <a:rect r="r" b="b" t="t" l="l"/>
              <a:pathLst>
                <a:path h="108712" w="3839718">
                  <a:moveTo>
                    <a:pt x="0" y="0"/>
                  </a:moveTo>
                  <a:lnTo>
                    <a:pt x="3839718" y="0"/>
                  </a:lnTo>
                  <a:lnTo>
                    <a:pt x="3839718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35B9B1"/>
            </a:solid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9903057" y="6885537"/>
            <a:ext cx="2550424" cy="3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BACKEND SERVICE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903057" y="7291473"/>
            <a:ext cx="2550424" cy="29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8081–8084</a:t>
            </a:r>
          </a:p>
        </p:txBody>
      </p:sp>
      <p:sp>
        <p:nvSpPr>
          <p:cNvPr name="Freeform 44" id="44"/>
          <p:cNvSpPr/>
          <p:nvPr/>
        </p:nvSpPr>
        <p:spPr>
          <a:xfrm flipH="false" flipV="false" rot="0">
            <a:off x="13905071" y="6594548"/>
            <a:ext cx="2913126" cy="1335691"/>
          </a:xfrm>
          <a:custGeom>
            <a:avLst/>
            <a:gdLst/>
            <a:ahLst/>
            <a:cxnLst/>
            <a:rect r="r" b="b" t="t" l="l"/>
            <a:pathLst>
              <a:path h="1335691" w="2913126">
                <a:moveTo>
                  <a:pt x="0" y="0"/>
                </a:moveTo>
                <a:lnTo>
                  <a:pt x="2913126" y="0"/>
                </a:lnTo>
                <a:lnTo>
                  <a:pt x="2913126" y="1335691"/>
                </a:lnTo>
                <a:lnTo>
                  <a:pt x="0" y="133569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13921740" y="6611217"/>
            <a:ext cx="2879788" cy="81534"/>
            <a:chOff x="0" y="0"/>
            <a:chExt cx="3839718" cy="108712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839718" cy="108712"/>
            </a:xfrm>
            <a:custGeom>
              <a:avLst/>
              <a:gdLst/>
              <a:ahLst/>
              <a:cxnLst/>
              <a:rect r="r" b="b" t="t" l="l"/>
              <a:pathLst>
                <a:path h="108712" w="3839718">
                  <a:moveTo>
                    <a:pt x="0" y="0"/>
                  </a:moveTo>
                  <a:lnTo>
                    <a:pt x="3839718" y="0"/>
                  </a:lnTo>
                  <a:lnTo>
                    <a:pt x="3839718" y="108712"/>
                  </a:lnTo>
                  <a:lnTo>
                    <a:pt x="0" y="108712"/>
                  </a:lnTo>
                  <a:close/>
                </a:path>
              </a:pathLst>
            </a:custGeom>
            <a:solidFill>
              <a:srgbClr val="F6A13D"/>
            </a:solidFill>
          </p:spPr>
        </p:sp>
      </p:grpSp>
      <p:sp>
        <p:nvSpPr>
          <p:cNvPr name="TextBox 47" id="47"/>
          <p:cNvSpPr txBox="true"/>
          <p:nvPr/>
        </p:nvSpPr>
        <p:spPr>
          <a:xfrm rot="0">
            <a:off x="14086437" y="6885537"/>
            <a:ext cx="2550424" cy="328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09"/>
              </a:lnSpc>
            </a:pPr>
            <a:r>
              <a:rPr lang="en-US" sz="1425" b="true">
                <a:solidFill>
                  <a:srgbClr val="17345E"/>
                </a:solidFill>
                <a:latin typeface="Aptos Bold"/>
                <a:ea typeface="Aptos Bold"/>
                <a:cs typeface="Aptos Bold"/>
                <a:sym typeface="Aptos Bold"/>
              </a:rPr>
              <a:t>MYSQL DATABASE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086437" y="7291473"/>
            <a:ext cx="2550424" cy="292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0"/>
              </a:lnSpc>
            </a:pPr>
            <a:r>
              <a:rPr lang="en-US" sz="1350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PER SERVICE</a:t>
            </a:r>
          </a:p>
        </p:txBody>
      </p:sp>
      <p:sp>
        <p:nvSpPr>
          <p:cNvPr name="AutoShape 49" id="49"/>
          <p:cNvSpPr/>
          <p:nvPr/>
        </p:nvSpPr>
        <p:spPr>
          <a:xfrm rot="24960">
            <a:off x="4247178" y="7246182"/>
            <a:ext cx="1313126" cy="0"/>
          </a:xfrm>
          <a:prstGeom prst="line">
            <a:avLst/>
          </a:prstGeom>
          <a:ln cap="rnd" w="9525">
            <a:solidFill>
              <a:srgbClr val="C7D3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rot="24960">
            <a:off x="8430558" y="7246182"/>
            <a:ext cx="1313126" cy="0"/>
          </a:xfrm>
          <a:prstGeom prst="line">
            <a:avLst/>
          </a:prstGeom>
          <a:ln cap="rnd" w="9525">
            <a:solidFill>
              <a:srgbClr val="C7D3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rot="24960">
            <a:off x="12613938" y="7246182"/>
            <a:ext cx="1313126" cy="0"/>
          </a:xfrm>
          <a:prstGeom prst="line">
            <a:avLst/>
          </a:prstGeom>
          <a:ln cap="rnd" w="9525">
            <a:solidFill>
              <a:srgbClr val="C7D3E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2726531" y="8281511"/>
            <a:ext cx="13200221" cy="883348"/>
          </a:xfrm>
          <a:custGeom>
            <a:avLst/>
            <a:gdLst/>
            <a:ahLst/>
            <a:cxnLst/>
            <a:rect r="r" b="b" t="t" l="l"/>
            <a:pathLst>
              <a:path h="883348" w="13200221">
                <a:moveTo>
                  <a:pt x="0" y="0"/>
                </a:moveTo>
                <a:lnTo>
                  <a:pt x="13200221" y="0"/>
                </a:lnTo>
                <a:lnTo>
                  <a:pt x="13200221" y="883349"/>
                </a:lnTo>
                <a:lnTo>
                  <a:pt x="0" y="88334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3017520" y="8559003"/>
            <a:ext cx="12618177" cy="301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sz="1575" b="true">
                <a:solidFill>
                  <a:srgbClr val="7656D9"/>
                </a:solidFill>
                <a:latin typeface="Aptos Bold"/>
                <a:ea typeface="Aptos Bold"/>
                <a:cs typeface="Aptos Bold"/>
                <a:sym typeface="Aptos Bold"/>
              </a:rPr>
              <a:t>Cross-service communication: SERVICE A  →  OpenFeign Client  →  SERVICE B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55" id="55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672665" y="8044120"/>
            <a:ext cx="2619994" cy="2619994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93394" y="-617220"/>
            <a:ext cx="3734114" cy="3734114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14 • DATA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Database-per-service design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035" y="1937699"/>
            <a:ext cx="15181383" cy="4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The project defines four MySQL databases with ownership aligned to the microservices.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741874" y="2456374"/>
            <a:ext cx="8048292" cy="2630472"/>
          </a:xfrm>
          <a:custGeom>
            <a:avLst/>
            <a:gdLst/>
            <a:ahLst/>
            <a:cxnLst/>
            <a:rect r="r" b="b" t="t" l="l"/>
            <a:pathLst>
              <a:path h="2630472" w="8048292">
                <a:moveTo>
                  <a:pt x="0" y="0"/>
                </a:moveTo>
                <a:lnTo>
                  <a:pt x="8048291" y="0"/>
                </a:lnTo>
                <a:lnTo>
                  <a:pt x="8048291" y="2630471"/>
                </a:lnTo>
                <a:lnTo>
                  <a:pt x="0" y="263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754380" y="2468880"/>
            <a:ext cx="8023288" cy="95536"/>
            <a:chOff x="0" y="0"/>
            <a:chExt cx="10697718" cy="1273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697718" cy="127381"/>
            </a:xfrm>
            <a:custGeom>
              <a:avLst/>
              <a:gdLst/>
              <a:ahLst/>
              <a:cxnLst/>
              <a:rect r="r" b="b" t="t" l="l"/>
              <a:pathLst>
                <a:path h="127381" w="10697718">
                  <a:moveTo>
                    <a:pt x="0" y="0"/>
                  </a:moveTo>
                  <a:lnTo>
                    <a:pt x="10697718" y="0"/>
                  </a:lnTo>
                  <a:lnTo>
                    <a:pt x="1069771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146238" y="2897819"/>
            <a:ext cx="723960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finance_users_db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46238" y="3583619"/>
            <a:ext cx="7239600" cy="121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User Service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users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bank_details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card_details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9314374" y="2456374"/>
            <a:ext cx="8048292" cy="2630472"/>
          </a:xfrm>
          <a:custGeom>
            <a:avLst/>
            <a:gdLst/>
            <a:ahLst/>
            <a:cxnLst/>
            <a:rect r="r" b="b" t="t" l="l"/>
            <a:pathLst>
              <a:path h="2630472" w="8048292">
                <a:moveTo>
                  <a:pt x="0" y="0"/>
                </a:moveTo>
                <a:lnTo>
                  <a:pt x="8048291" y="0"/>
                </a:lnTo>
                <a:lnTo>
                  <a:pt x="8048291" y="2630471"/>
                </a:lnTo>
                <a:lnTo>
                  <a:pt x="0" y="263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9326880" y="2468880"/>
            <a:ext cx="8023288" cy="95536"/>
            <a:chOff x="0" y="0"/>
            <a:chExt cx="10697718" cy="127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697718" cy="127381"/>
            </a:xfrm>
            <a:custGeom>
              <a:avLst/>
              <a:gdLst/>
              <a:ahLst/>
              <a:cxnLst/>
              <a:rect r="r" b="b" t="t" l="l"/>
              <a:pathLst>
                <a:path h="127381" w="10697718">
                  <a:moveTo>
                    <a:pt x="0" y="0"/>
                  </a:moveTo>
                  <a:lnTo>
                    <a:pt x="10697718" y="0"/>
                  </a:lnTo>
                  <a:lnTo>
                    <a:pt x="1069771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718738" y="2897819"/>
            <a:ext cx="723960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finance_product_db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8738" y="3583619"/>
            <a:ext cx="7239600" cy="121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Product Service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products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741874" y="5542474"/>
            <a:ext cx="8048292" cy="2630472"/>
          </a:xfrm>
          <a:custGeom>
            <a:avLst/>
            <a:gdLst/>
            <a:ahLst/>
            <a:cxnLst/>
            <a:rect r="r" b="b" t="t" l="l"/>
            <a:pathLst>
              <a:path h="2630472" w="8048292">
                <a:moveTo>
                  <a:pt x="0" y="0"/>
                </a:moveTo>
                <a:lnTo>
                  <a:pt x="8048291" y="0"/>
                </a:lnTo>
                <a:lnTo>
                  <a:pt x="8048291" y="2630471"/>
                </a:lnTo>
                <a:lnTo>
                  <a:pt x="0" y="263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754380" y="5554980"/>
            <a:ext cx="8023288" cy="95536"/>
            <a:chOff x="0" y="0"/>
            <a:chExt cx="10697718" cy="1273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97718" cy="127381"/>
            </a:xfrm>
            <a:custGeom>
              <a:avLst/>
              <a:gdLst/>
              <a:ahLst/>
              <a:cxnLst/>
              <a:rect r="r" b="b" t="t" l="l"/>
              <a:pathLst>
                <a:path h="127381" w="10697718">
                  <a:moveTo>
                    <a:pt x="0" y="0"/>
                  </a:moveTo>
                  <a:lnTo>
                    <a:pt x="10697718" y="0"/>
                  </a:lnTo>
                  <a:lnTo>
                    <a:pt x="1069771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146238" y="5983919"/>
            <a:ext cx="723960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finance_finance_db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46238" y="6669719"/>
            <a:ext cx="7239600" cy="121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Finance Service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purchase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9314374" y="5542474"/>
            <a:ext cx="8048292" cy="2630472"/>
          </a:xfrm>
          <a:custGeom>
            <a:avLst/>
            <a:gdLst/>
            <a:ahLst/>
            <a:cxnLst/>
            <a:rect r="r" b="b" t="t" l="l"/>
            <a:pathLst>
              <a:path h="2630472" w="8048292">
                <a:moveTo>
                  <a:pt x="0" y="0"/>
                </a:moveTo>
                <a:lnTo>
                  <a:pt x="8048291" y="0"/>
                </a:lnTo>
                <a:lnTo>
                  <a:pt x="8048291" y="2630471"/>
                </a:lnTo>
                <a:lnTo>
                  <a:pt x="0" y="263047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326880" y="5554980"/>
            <a:ext cx="8023288" cy="95536"/>
            <a:chOff x="0" y="0"/>
            <a:chExt cx="10697718" cy="1273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697718" cy="127381"/>
            </a:xfrm>
            <a:custGeom>
              <a:avLst/>
              <a:gdLst/>
              <a:ahLst/>
              <a:cxnLst/>
              <a:rect r="r" b="b" t="t" l="l"/>
              <a:pathLst>
                <a:path h="127381" w="10697718">
                  <a:moveTo>
                    <a:pt x="0" y="0"/>
                  </a:moveTo>
                  <a:lnTo>
                    <a:pt x="10697718" y="0"/>
                  </a:lnTo>
                  <a:lnTo>
                    <a:pt x="1069771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718738" y="5983919"/>
            <a:ext cx="7239600" cy="458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22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finance_admin_db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718738" y="6669719"/>
            <a:ext cx="7239600" cy="121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Admin Service</a:t>
            </a:r>
          </a:p>
          <a:p>
            <a:pPr algn="l">
              <a:lnSpc>
                <a:spcPts val="1889"/>
              </a:lnSpc>
            </a:pPr>
            <a:r>
              <a:rPr lang="en-US" sz="157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• admins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34" id="34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1540" y="8367668"/>
            <a:ext cx="2604560" cy="2604560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16958" y="-617220"/>
            <a:ext cx="3810551" cy="3810551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16 • PRODUCT UI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Shopping &amp; EMI experience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035" y="1937699"/>
            <a:ext cx="15181383" cy="4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Two views show how users choose financing and browse products.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5150" y="2346750"/>
            <a:ext cx="8185452" cy="6813852"/>
          </a:xfrm>
          <a:custGeom>
            <a:avLst/>
            <a:gdLst/>
            <a:ahLst/>
            <a:cxnLst/>
            <a:rect r="r" b="b" t="t" l="l"/>
            <a:pathLst>
              <a:path h="6813852" w="8185452">
                <a:moveTo>
                  <a:pt x="0" y="0"/>
                </a:moveTo>
                <a:lnTo>
                  <a:pt x="8185452" y="0"/>
                </a:lnTo>
                <a:lnTo>
                  <a:pt x="8185452" y="6813852"/>
                </a:lnTo>
                <a:lnTo>
                  <a:pt x="0" y="6813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79357" y="3838861"/>
            <a:ext cx="7776496" cy="3774567"/>
            <a:chOff x="0" y="0"/>
            <a:chExt cx="10368661" cy="5032756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368661" cy="5032756"/>
            </a:xfrm>
            <a:custGeom>
              <a:avLst/>
              <a:gdLst/>
              <a:ahLst/>
              <a:cxnLst/>
              <a:rect r="r" b="b" t="t" l="l"/>
              <a:pathLst>
                <a:path h="5032756" w="10368661">
                  <a:moveTo>
                    <a:pt x="0" y="0"/>
                  </a:moveTo>
                  <a:lnTo>
                    <a:pt x="10368661" y="0"/>
                  </a:lnTo>
                  <a:lnTo>
                    <a:pt x="10368661" y="5032756"/>
                  </a:lnTo>
                  <a:lnTo>
                    <a:pt x="0" y="50327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" r="0" b="-5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06903" y="8517417"/>
            <a:ext cx="7721460" cy="34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EMI CARDS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451534" y="2346750"/>
            <a:ext cx="7870079" cy="6813852"/>
          </a:xfrm>
          <a:custGeom>
            <a:avLst/>
            <a:gdLst/>
            <a:ahLst/>
            <a:cxnLst/>
            <a:rect r="r" b="b" t="t" l="l"/>
            <a:pathLst>
              <a:path h="6813852" w="7870079">
                <a:moveTo>
                  <a:pt x="0" y="0"/>
                </a:moveTo>
                <a:lnTo>
                  <a:pt x="7870079" y="0"/>
                </a:lnTo>
                <a:lnTo>
                  <a:pt x="7870079" y="6813852"/>
                </a:lnTo>
                <a:lnTo>
                  <a:pt x="0" y="681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656283" y="3886381"/>
            <a:ext cx="7461218" cy="3680079"/>
            <a:chOff x="0" y="0"/>
            <a:chExt cx="9948291" cy="4906772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948291" cy="4906772"/>
            </a:xfrm>
            <a:custGeom>
              <a:avLst/>
              <a:gdLst/>
              <a:ahLst/>
              <a:cxnLst/>
              <a:rect r="r" b="b" t="t" l="l"/>
              <a:pathLst>
                <a:path h="4906772" w="9948291">
                  <a:moveTo>
                    <a:pt x="0" y="0"/>
                  </a:moveTo>
                  <a:lnTo>
                    <a:pt x="9948291" y="0"/>
                  </a:lnTo>
                  <a:lnTo>
                    <a:pt x="9948291" y="4906772"/>
                  </a:lnTo>
                  <a:lnTo>
                    <a:pt x="0" y="4906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" r="0" b="-3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83277" y="8517417"/>
            <a:ext cx="7406097" cy="34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PRODUCT CATALOG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22" id="22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1540" y="8203512"/>
            <a:ext cx="2768716" cy="2768716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4884404" y="-617220"/>
            <a:ext cx="4043105" cy="4043105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17 • ADMIN &amp; ACCOUNT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Product details and administration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8035" y="1937699"/>
            <a:ext cx="15181383" cy="4856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0"/>
              </a:lnSpc>
            </a:pPr>
            <a:r>
              <a:rPr lang="en-US" sz="1650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The interface connects product selection with administrative visibility.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975150" y="2346750"/>
            <a:ext cx="8185452" cy="6813852"/>
          </a:xfrm>
          <a:custGeom>
            <a:avLst/>
            <a:gdLst/>
            <a:ahLst/>
            <a:cxnLst/>
            <a:rect r="r" b="b" t="t" l="l"/>
            <a:pathLst>
              <a:path h="6813852" w="8185452">
                <a:moveTo>
                  <a:pt x="0" y="0"/>
                </a:moveTo>
                <a:lnTo>
                  <a:pt x="8185452" y="0"/>
                </a:lnTo>
                <a:lnTo>
                  <a:pt x="8185452" y="6813852"/>
                </a:lnTo>
                <a:lnTo>
                  <a:pt x="0" y="68138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179357" y="3837242"/>
            <a:ext cx="7776496" cy="3777806"/>
            <a:chOff x="0" y="0"/>
            <a:chExt cx="10368661" cy="5037074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10368661" cy="5037074"/>
            </a:xfrm>
            <a:custGeom>
              <a:avLst/>
              <a:gdLst/>
              <a:ahLst/>
              <a:cxnLst/>
              <a:rect r="r" b="b" t="t" l="l"/>
              <a:pathLst>
                <a:path h="5037074" w="10368661">
                  <a:moveTo>
                    <a:pt x="0" y="0"/>
                  </a:moveTo>
                  <a:lnTo>
                    <a:pt x="10368661" y="0"/>
                  </a:lnTo>
                  <a:lnTo>
                    <a:pt x="10368661" y="5037074"/>
                  </a:lnTo>
                  <a:lnTo>
                    <a:pt x="0" y="50370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3" r="0" b="-43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06903" y="8517417"/>
            <a:ext cx="7721460" cy="34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PRODUCT DETAILS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451534" y="2346750"/>
            <a:ext cx="7870079" cy="6813852"/>
          </a:xfrm>
          <a:custGeom>
            <a:avLst/>
            <a:gdLst/>
            <a:ahLst/>
            <a:cxnLst/>
            <a:rect r="r" b="b" t="t" l="l"/>
            <a:pathLst>
              <a:path h="6813852" w="7870079">
                <a:moveTo>
                  <a:pt x="0" y="0"/>
                </a:moveTo>
                <a:lnTo>
                  <a:pt x="7870079" y="0"/>
                </a:lnTo>
                <a:lnTo>
                  <a:pt x="7870079" y="6813852"/>
                </a:lnTo>
                <a:lnTo>
                  <a:pt x="0" y="68138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656283" y="3922024"/>
            <a:ext cx="7461218" cy="3608832"/>
            <a:chOff x="0" y="0"/>
            <a:chExt cx="9948291" cy="4811776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9948291" cy="4811776"/>
            </a:xfrm>
            <a:custGeom>
              <a:avLst/>
              <a:gdLst/>
              <a:ahLst/>
              <a:cxnLst/>
              <a:rect r="r" b="b" t="t" l="l"/>
              <a:pathLst>
                <a:path h="4811776" w="9948291">
                  <a:moveTo>
                    <a:pt x="0" y="0"/>
                  </a:moveTo>
                  <a:lnTo>
                    <a:pt x="9948291" y="0"/>
                  </a:lnTo>
                  <a:lnTo>
                    <a:pt x="9948291" y="4811776"/>
                  </a:lnTo>
                  <a:lnTo>
                    <a:pt x="0" y="48117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-31" r="0" b="-31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683277" y="8517417"/>
            <a:ext cx="7406097" cy="3423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95"/>
              </a:lnSpc>
            </a:pPr>
            <a:r>
              <a:rPr lang="en-US" sz="142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ADMIN DASHBOARD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22" id="22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D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91540" y="7955280"/>
            <a:ext cx="3016948" cy="3016948"/>
            <a:chOff x="0" y="0"/>
            <a:chExt cx="3016758" cy="30167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16758" cy="3016758"/>
            </a:xfrm>
            <a:custGeom>
              <a:avLst/>
              <a:gdLst/>
              <a:ahLst/>
              <a:cxnLst/>
              <a:rect r="r" b="b" t="t" l="l"/>
              <a:pathLst>
                <a:path h="3016758" w="3016758">
                  <a:moveTo>
                    <a:pt x="0" y="1508379"/>
                  </a:moveTo>
                  <a:cubicBezTo>
                    <a:pt x="0" y="675386"/>
                    <a:pt x="675386" y="0"/>
                    <a:pt x="1508379" y="0"/>
                  </a:cubicBezTo>
                  <a:cubicBezTo>
                    <a:pt x="2341372" y="0"/>
                    <a:pt x="3016758" y="675386"/>
                    <a:pt x="3016758" y="1508379"/>
                  </a:cubicBezTo>
                  <a:cubicBezTo>
                    <a:pt x="3016758" y="2341372"/>
                    <a:pt x="2341499" y="3016758"/>
                    <a:pt x="1508379" y="3016758"/>
                  </a:cubicBezTo>
                  <a:cubicBezTo>
                    <a:pt x="675259" y="3016758"/>
                    <a:pt x="0" y="2341499"/>
                    <a:pt x="0" y="1508379"/>
                  </a:cubicBezTo>
                  <a:close/>
                </a:path>
              </a:pathLst>
            </a:custGeom>
            <a:solidFill>
              <a:srgbClr val="DAEBFC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90975" y="-617220"/>
            <a:ext cx="3736534" cy="3736534"/>
            <a:chOff x="0" y="0"/>
            <a:chExt cx="4114038" cy="411403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114038" cy="4114038"/>
            </a:xfrm>
            <a:custGeom>
              <a:avLst/>
              <a:gdLst/>
              <a:ahLst/>
              <a:cxnLst/>
              <a:rect r="r" b="b" t="t" l="l"/>
              <a:pathLst>
                <a:path h="4114038" w="4114038">
                  <a:moveTo>
                    <a:pt x="0" y="2057019"/>
                  </a:moveTo>
                  <a:cubicBezTo>
                    <a:pt x="0" y="921004"/>
                    <a:pt x="921004" y="0"/>
                    <a:pt x="2057019" y="0"/>
                  </a:cubicBezTo>
                  <a:cubicBezTo>
                    <a:pt x="3193034" y="0"/>
                    <a:pt x="4114038" y="921004"/>
                    <a:pt x="4114038" y="2057019"/>
                  </a:cubicBezTo>
                  <a:cubicBezTo>
                    <a:pt x="4114038" y="3193034"/>
                    <a:pt x="3193161" y="4114038"/>
                    <a:pt x="2057019" y="4114038"/>
                  </a:cubicBezTo>
                  <a:cubicBezTo>
                    <a:pt x="920877" y="4114038"/>
                    <a:pt x="0" y="3193161"/>
                    <a:pt x="0" y="2057019"/>
                  </a:cubicBezTo>
                  <a:close/>
                </a:path>
              </a:pathLst>
            </a:custGeom>
            <a:solidFill>
              <a:srgbClr val="E8E1FC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0497" y="548640"/>
            <a:ext cx="7131777" cy="410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18 • 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98" y="1133789"/>
            <a:ext cx="15181383" cy="6858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0"/>
              </a:lnSpc>
            </a:pPr>
            <a:r>
              <a:rPr lang="en-US" sz="405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FusionPay brings the finance workflow together.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78043" y="1892703"/>
            <a:ext cx="15361377" cy="6852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70"/>
              </a:lnSpc>
            </a:pPr>
            <a:r>
              <a:rPr lang="en-US" sz="17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A full-stack Finance Management System connecting users, products, purchases and administration through Spring Cloud infrastructure.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879038" y="3617881"/>
            <a:ext cx="3796332" cy="2424732"/>
          </a:xfrm>
          <a:custGeom>
            <a:avLst/>
            <a:gdLst/>
            <a:ahLst/>
            <a:cxnLst/>
            <a:rect r="r" b="b" t="t" l="l"/>
            <a:pathLst>
              <a:path h="2424732" w="3796332">
                <a:moveTo>
                  <a:pt x="0" y="0"/>
                </a:moveTo>
                <a:lnTo>
                  <a:pt x="3796332" y="0"/>
                </a:lnTo>
                <a:lnTo>
                  <a:pt x="3796332" y="2424731"/>
                </a:lnTo>
                <a:lnTo>
                  <a:pt x="0" y="24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91540" y="3522345"/>
            <a:ext cx="3771328" cy="95536"/>
            <a:chOff x="0" y="0"/>
            <a:chExt cx="5028438" cy="12738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028438" cy="127381"/>
            </a:xfrm>
            <a:custGeom>
              <a:avLst/>
              <a:gdLst/>
              <a:ahLst/>
              <a:cxnLst/>
              <a:rect r="r" b="b" t="t" l="l"/>
              <a:pathLst>
                <a:path h="127381" w="5028438">
                  <a:moveTo>
                    <a:pt x="0" y="0"/>
                  </a:moveTo>
                  <a:lnTo>
                    <a:pt x="5028438" y="0"/>
                  </a:lnTo>
                  <a:lnTo>
                    <a:pt x="50284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4870D6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283398" y="3770309"/>
            <a:ext cx="2987640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Modular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83398" y="4475159"/>
            <a:ext cx="2987640" cy="100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Independent service responsibilities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5090955" y="3617881"/>
            <a:ext cx="3796332" cy="2424732"/>
          </a:xfrm>
          <a:custGeom>
            <a:avLst/>
            <a:gdLst/>
            <a:ahLst/>
            <a:cxnLst/>
            <a:rect r="r" b="b" t="t" l="l"/>
            <a:pathLst>
              <a:path h="2424732" w="3796332">
                <a:moveTo>
                  <a:pt x="0" y="0"/>
                </a:moveTo>
                <a:lnTo>
                  <a:pt x="3796332" y="0"/>
                </a:lnTo>
                <a:lnTo>
                  <a:pt x="3796332" y="2424731"/>
                </a:lnTo>
                <a:lnTo>
                  <a:pt x="0" y="24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115958" y="3522345"/>
            <a:ext cx="3771328" cy="95536"/>
            <a:chOff x="0" y="0"/>
            <a:chExt cx="5028438" cy="12738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028438" cy="127381"/>
            </a:xfrm>
            <a:custGeom>
              <a:avLst/>
              <a:gdLst/>
              <a:ahLst/>
              <a:cxnLst/>
              <a:rect r="r" b="b" t="t" l="l"/>
              <a:pathLst>
                <a:path h="127381" w="5028438">
                  <a:moveTo>
                    <a:pt x="0" y="0"/>
                  </a:moveTo>
                  <a:lnTo>
                    <a:pt x="5028438" y="0"/>
                  </a:lnTo>
                  <a:lnTo>
                    <a:pt x="50284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F49D45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507822" y="3770309"/>
            <a:ext cx="2987640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Discoverable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07822" y="4475159"/>
            <a:ext cx="2987640" cy="100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Eureka-based service registration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9327871" y="3570113"/>
            <a:ext cx="3796332" cy="2424732"/>
          </a:xfrm>
          <a:custGeom>
            <a:avLst/>
            <a:gdLst/>
            <a:ahLst/>
            <a:cxnLst/>
            <a:rect r="r" b="b" t="t" l="l"/>
            <a:pathLst>
              <a:path h="2424732" w="3796332">
                <a:moveTo>
                  <a:pt x="0" y="0"/>
                </a:moveTo>
                <a:lnTo>
                  <a:pt x="3796331" y="0"/>
                </a:lnTo>
                <a:lnTo>
                  <a:pt x="3796331" y="2424731"/>
                </a:lnTo>
                <a:lnTo>
                  <a:pt x="0" y="24247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340372" y="3522345"/>
            <a:ext cx="3771328" cy="95536"/>
            <a:chOff x="0" y="0"/>
            <a:chExt cx="5028438" cy="12738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5028438" cy="127381"/>
            </a:xfrm>
            <a:custGeom>
              <a:avLst/>
              <a:gdLst/>
              <a:ahLst/>
              <a:cxnLst/>
              <a:rect r="r" b="b" t="t" l="l"/>
              <a:pathLst>
                <a:path h="127381" w="5028438">
                  <a:moveTo>
                    <a:pt x="0" y="0"/>
                  </a:moveTo>
                  <a:lnTo>
                    <a:pt x="5028438" y="0"/>
                  </a:lnTo>
                  <a:lnTo>
                    <a:pt x="50284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7760D2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9732235" y="3770309"/>
            <a:ext cx="2987640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Connected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732235" y="4475159"/>
            <a:ext cx="2987640" cy="100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OpenFeign inter-service calls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3552837" y="3522345"/>
            <a:ext cx="3796332" cy="2424732"/>
          </a:xfrm>
          <a:custGeom>
            <a:avLst/>
            <a:gdLst/>
            <a:ahLst/>
            <a:cxnLst/>
            <a:rect r="r" b="b" t="t" l="l"/>
            <a:pathLst>
              <a:path h="2424732" w="3796332">
                <a:moveTo>
                  <a:pt x="0" y="0"/>
                </a:moveTo>
                <a:lnTo>
                  <a:pt x="3796331" y="0"/>
                </a:lnTo>
                <a:lnTo>
                  <a:pt x="3796331" y="2424732"/>
                </a:lnTo>
                <a:lnTo>
                  <a:pt x="0" y="24247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13565338" y="3522345"/>
            <a:ext cx="3771328" cy="95536"/>
            <a:chOff x="0" y="0"/>
            <a:chExt cx="5028438" cy="12738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028438" cy="127381"/>
            </a:xfrm>
            <a:custGeom>
              <a:avLst/>
              <a:gdLst/>
              <a:ahLst/>
              <a:cxnLst/>
              <a:rect r="r" b="b" t="t" l="l"/>
              <a:pathLst>
                <a:path h="127381" w="5028438">
                  <a:moveTo>
                    <a:pt x="0" y="0"/>
                  </a:moveTo>
                  <a:lnTo>
                    <a:pt x="5028438" y="0"/>
                  </a:lnTo>
                  <a:lnTo>
                    <a:pt x="5028438" y="127381"/>
                  </a:lnTo>
                  <a:lnTo>
                    <a:pt x="0" y="127381"/>
                  </a:lnTo>
                  <a:close/>
                </a:path>
              </a:pathLst>
            </a:custGeom>
            <a:solidFill>
              <a:srgbClr val="37B5AA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3956659" y="3770309"/>
            <a:ext cx="2987640" cy="477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 b="true">
                <a:solidFill>
                  <a:srgbClr val="192B53"/>
                </a:solidFill>
                <a:latin typeface="Aptos Bold"/>
                <a:ea typeface="Aptos Bold"/>
                <a:cs typeface="Aptos Bold"/>
                <a:sym typeface="Aptos Bold"/>
              </a:rPr>
              <a:t>User-facing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956659" y="4475159"/>
            <a:ext cx="2987640" cy="1006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sz="1425">
                <a:solidFill>
                  <a:srgbClr val="67748B"/>
                </a:solidFill>
                <a:latin typeface="Aptos"/>
                <a:ea typeface="Aptos"/>
                <a:cs typeface="Aptos"/>
                <a:sym typeface="Aptos"/>
              </a:rPr>
              <a:t>Angular purchase + finance flow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80360" y="7955280"/>
            <a:ext cx="12618177" cy="4795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0"/>
              </a:lnSpc>
            </a:pPr>
            <a:r>
              <a:rPr lang="en-US" sz="1125" b="true">
                <a:solidFill>
                  <a:srgbClr val="5D718F"/>
                </a:solidFill>
                <a:latin typeface="Aptos Bold"/>
                <a:ea typeface="Aptos Bold"/>
                <a:cs typeface="Aptos Bold"/>
                <a:sym typeface="Aptos Bold"/>
              </a:rPr>
              <a:t>Spring Boot  •  Microservices  •  Angular  •  MySQL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50497" y="9834477"/>
            <a:ext cx="16527208" cy="15621"/>
            <a:chOff x="0" y="0"/>
            <a:chExt cx="22036278" cy="208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036278" cy="20828"/>
            </a:xfrm>
            <a:custGeom>
              <a:avLst/>
              <a:gdLst/>
              <a:ahLst/>
              <a:cxnLst/>
              <a:rect r="r" b="b" t="t" l="l"/>
              <a:pathLst>
                <a:path h="20828" w="22036278">
                  <a:moveTo>
                    <a:pt x="0" y="0"/>
                  </a:moveTo>
                  <a:lnTo>
                    <a:pt x="22036278" y="0"/>
                  </a:lnTo>
                  <a:lnTo>
                    <a:pt x="22036278" y="20828"/>
                  </a:lnTo>
                  <a:lnTo>
                    <a:pt x="0" y="20828"/>
                  </a:lnTo>
                  <a:close/>
                </a:path>
              </a:pathLst>
            </a:custGeom>
            <a:solidFill>
              <a:srgbClr val="D3DEF0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878043" y="9930603"/>
            <a:ext cx="630881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FusionPay  •  Finance Management System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207240" y="9930603"/>
            <a:ext cx="5142957" cy="24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350"/>
              </a:lnSpc>
            </a:pPr>
            <a:r>
              <a:rPr lang="en-US" sz="1125">
                <a:solidFill>
                  <a:srgbClr val="5D718F"/>
                </a:solidFill>
                <a:latin typeface="Aptos"/>
                <a:ea typeface="Aptos"/>
                <a:cs typeface="Aptos"/>
                <a:sym typeface="Aptos"/>
              </a:rPr>
              <a:t>Spring Boot  •  Microservices  •  Angular  •  MySQL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5750721" y="713337"/>
            <a:ext cx="2399728" cy="1110234"/>
            <a:chOff x="0" y="0"/>
            <a:chExt cx="3199638" cy="1480312"/>
          </a:xfrm>
        </p:grpSpPr>
        <p:sp>
          <p:nvSpPr>
            <p:cNvPr name="Freeform 35" id="35" descr="Coforge_logo_transparent.png"/>
            <p:cNvSpPr/>
            <p:nvPr/>
          </p:nvSpPr>
          <p:spPr>
            <a:xfrm flipH="false" flipV="false" rot="0">
              <a:off x="0" y="0"/>
              <a:ext cx="3199638" cy="1480312"/>
            </a:xfrm>
            <a:custGeom>
              <a:avLst/>
              <a:gdLst/>
              <a:ahLst/>
              <a:cxnLst/>
              <a:rect r="r" b="b" t="t" l="l"/>
              <a:pathLst>
                <a:path h="1480312" w="3199638">
                  <a:moveTo>
                    <a:pt x="0" y="0"/>
                  </a:moveTo>
                  <a:lnTo>
                    <a:pt x="3199638" y="0"/>
                  </a:lnTo>
                  <a:lnTo>
                    <a:pt x="3199638" y="1480312"/>
                  </a:lnTo>
                  <a:lnTo>
                    <a:pt x="0" y="14803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9" t="0" r="-69" b="0"/>
              </a:stretch>
            </a:blipFill>
          </p:spPr>
        </p:sp>
      </p:grp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F6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54380" y="-754380"/>
            <a:ext cx="2605469" cy="2605469"/>
            <a:chOff x="0" y="0"/>
            <a:chExt cx="3473958" cy="347395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473958" cy="3473958"/>
            </a:xfrm>
            <a:custGeom>
              <a:avLst/>
              <a:gdLst/>
              <a:ahLst/>
              <a:cxnLst/>
              <a:rect r="r" b="b" t="t" l="l"/>
              <a:pathLst>
                <a:path h="3473958" w="3473958">
                  <a:moveTo>
                    <a:pt x="0" y="1736979"/>
                  </a:moveTo>
                  <a:cubicBezTo>
                    <a:pt x="0" y="777621"/>
                    <a:pt x="777621" y="0"/>
                    <a:pt x="1736979" y="0"/>
                  </a:cubicBezTo>
                  <a:cubicBezTo>
                    <a:pt x="2696337" y="0"/>
                    <a:pt x="3473958" y="777621"/>
                    <a:pt x="3473958" y="1736979"/>
                  </a:cubicBezTo>
                  <a:cubicBezTo>
                    <a:pt x="3473958" y="2696337"/>
                    <a:pt x="2696337" y="3473958"/>
                    <a:pt x="1736979" y="3473958"/>
                  </a:cubicBezTo>
                  <a:cubicBezTo>
                    <a:pt x="777621" y="3473958"/>
                    <a:pt x="0" y="2696337"/>
                    <a:pt x="0" y="1736979"/>
                  </a:cubicBezTo>
                  <a:close/>
                </a:path>
              </a:pathLst>
            </a:custGeom>
            <a:solidFill>
              <a:srgbClr val="E1EDFD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29929" y="-754380"/>
            <a:ext cx="3634740" cy="3634740"/>
            <a:chOff x="0" y="0"/>
            <a:chExt cx="3382518" cy="3382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82518" cy="3382518"/>
            </a:xfrm>
            <a:custGeom>
              <a:avLst/>
              <a:gdLst/>
              <a:ahLst/>
              <a:cxnLst/>
              <a:rect r="r" b="b" t="t" l="l"/>
              <a:pathLst>
                <a:path h="3382518" w="3382518">
                  <a:moveTo>
                    <a:pt x="0" y="1691259"/>
                  </a:moveTo>
                  <a:cubicBezTo>
                    <a:pt x="0" y="757174"/>
                    <a:pt x="757174" y="0"/>
                    <a:pt x="1691259" y="0"/>
                  </a:cubicBezTo>
                  <a:cubicBezTo>
                    <a:pt x="2625344" y="0"/>
                    <a:pt x="3382518" y="757174"/>
                    <a:pt x="3382518" y="1691259"/>
                  </a:cubicBezTo>
                  <a:cubicBezTo>
                    <a:pt x="3382518" y="2625344"/>
                    <a:pt x="2625344" y="3382518"/>
                    <a:pt x="1691259" y="3382518"/>
                  </a:cubicBezTo>
                  <a:cubicBezTo>
                    <a:pt x="757174" y="3382518"/>
                    <a:pt x="0" y="2625344"/>
                    <a:pt x="0" y="1691259"/>
                  </a:cubicBezTo>
                  <a:close/>
                </a:path>
              </a:pathLst>
            </a:custGeom>
            <a:solidFill>
              <a:srgbClr val="EBE4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-754380" y="7982250"/>
            <a:ext cx="2921398" cy="2921398"/>
            <a:chOff x="0" y="0"/>
            <a:chExt cx="3291078" cy="32910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291078" cy="3291078"/>
            </a:xfrm>
            <a:custGeom>
              <a:avLst/>
              <a:gdLst/>
              <a:ahLst/>
              <a:cxnLst/>
              <a:rect r="r" b="b" t="t" l="l"/>
              <a:pathLst>
                <a:path h="3291078" w="3291078">
                  <a:moveTo>
                    <a:pt x="0" y="1645539"/>
                  </a:moveTo>
                  <a:cubicBezTo>
                    <a:pt x="0" y="736727"/>
                    <a:pt x="736727" y="0"/>
                    <a:pt x="1645539" y="0"/>
                  </a:cubicBezTo>
                  <a:cubicBezTo>
                    <a:pt x="2554351" y="0"/>
                    <a:pt x="3291078" y="736727"/>
                    <a:pt x="3291078" y="1645539"/>
                  </a:cubicBezTo>
                  <a:cubicBezTo>
                    <a:pt x="3291078" y="2554351"/>
                    <a:pt x="2554351" y="3291078"/>
                    <a:pt x="1645539" y="3291078"/>
                  </a:cubicBezTo>
                  <a:cubicBezTo>
                    <a:pt x="736727" y="3291078"/>
                    <a:pt x="0" y="2554351"/>
                    <a:pt x="0" y="1645539"/>
                  </a:cubicBezTo>
                  <a:close/>
                </a:path>
              </a:pathLst>
            </a:custGeom>
            <a:solidFill>
              <a:srgbClr val="E1EDF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754380" y="589683"/>
            <a:ext cx="1302477" cy="342357"/>
            <a:chOff x="0" y="0"/>
            <a:chExt cx="1736636" cy="45647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36598" cy="456438"/>
            </a:xfrm>
            <a:custGeom>
              <a:avLst/>
              <a:gdLst/>
              <a:ahLst/>
              <a:cxnLst/>
              <a:rect r="r" b="b" t="t" l="l"/>
              <a:pathLst>
                <a:path h="456438" w="1736598">
                  <a:moveTo>
                    <a:pt x="0" y="0"/>
                  </a:moveTo>
                  <a:lnTo>
                    <a:pt x="1736598" y="0"/>
                  </a:lnTo>
                  <a:lnTo>
                    <a:pt x="173659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4079" r="-2" b="-2409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4380" y="582539"/>
            <a:ext cx="1302477" cy="349501"/>
            <a:chOff x="0" y="0"/>
            <a:chExt cx="1736636" cy="46600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6636" cy="466001"/>
            </a:xfrm>
            <a:custGeom>
              <a:avLst/>
              <a:gdLst/>
              <a:ahLst/>
              <a:cxnLst/>
              <a:rect r="r" b="b" t="t" l="l"/>
              <a:pathLst>
                <a:path h="466001" w="1736636">
                  <a:moveTo>
                    <a:pt x="0" y="0"/>
                  </a:moveTo>
                  <a:lnTo>
                    <a:pt x="1736636" y="0"/>
                  </a:lnTo>
                  <a:lnTo>
                    <a:pt x="173663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614" r="0" b="-2261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73663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4971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FUSIONPAY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940766" y="589683"/>
            <a:ext cx="2125437" cy="342367"/>
            <a:chOff x="0" y="0"/>
            <a:chExt cx="2833916" cy="45648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33878" cy="456438"/>
            </a:xfrm>
            <a:custGeom>
              <a:avLst/>
              <a:gdLst/>
              <a:ahLst/>
              <a:cxnLst/>
              <a:rect r="r" b="b" t="t" l="l"/>
              <a:pathLst>
                <a:path h="456438" w="2833878">
                  <a:moveTo>
                    <a:pt x="0" y="0"/>
                  </a:moveTo>
                  <a:lnTo>
                    <a:pt x="2833878" y="0"/>
                  </a:lnTo>
                  <a:lnTo>
                    <a:pt x="283387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0890" r="-1" b="-70898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940766" y="582539"/>
            <a:ext cx="2125437" cy="349501"/>
            <a:chOff x="0" y="0"/>
            <a:chExt cx="2833916" cy="46600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833916" cy="466005"/>
            </a:xfrm>
            <a:custGeom>
              <a:avLst/>
              <a:gdLst/>
              <a:ahLst/>
              <a:cxnLst/>
              <a:rect r="r" b="b" t="t" l="l"/>
              <a:pathLst>
                <a:path h="466005" w="2833916">
                  <a:moveTo>
                    <a:pt x="0" y="0"/>
                  </a:moveTo>
                  <a:lnTo>
                    <a:pt x="2833916" y="0"/>
                  </a:lnTo>
                  <a:lnTo>
                    <a:pt x="2833916" y="466005"/>
                  </a:lnTo>
                  <a:lnTo>
                    <a:pt x="0" y="46600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8494" r="0" b="-68493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283391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4971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QUESTIONS &amp; DISCUSSION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7657" y="1618383"/>
            <a:ext cx="2358723" cy="849963"/>
            <a:chOff x="0" y="0"/>
            <a:chExt cx="3144964" cy="113328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144901" cy="1133221"/>
            </a:xfrm>
            <a:custGeom>
              <a:avLst/>
              <a:gdLst/>
              <a:ahLst/>
              <a:cxnLst/>
              <a:rect r="r" b="b" t="t" l="l"/>
              <a:pathLst>
                <a:path h="1133221" w="3144901">
                  <a:moveTo>
                    <a:pt x="0" y="0"/>
                  </a:moveTo>
                  <a:lnTo>
                    <a:pt x="3144901" y="0"/>
                  </a:lnTo>
                  <a:lnTo>
                    <a:pt x="3144901" y="1133221"/>
                  </a:lnTo>
                  <a:lnTo>
                    <a:pt x="0" y="11332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035" r="-2" b="-404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7657" y="1618383"/>
            <a:ext cx="2358723" cy="849963"/>
            <a:chOff x="0" y="0"/>
            <a:chExt cx="3144964" cy="11332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144964" cy="1133284"/>
            </a:xfrm>
            <a:custGeom>
              <a:avLst/>
              <a:gdLst/>
              <a:ahLst/>
              <a:cxnLst/>
              <a:rect r="r" b="b" t="t" l="l"/>
              <a:pathLst>
                <a:path h="1133284" w="3144964">
                  <a:moveTo>
                    <a:pt x="0" y="0"/>
                  </a:moveTo>
                  <a:lnTo>
                    <a:pt x="3144964" y="0"/>
                  </a:lnTo>
                  <a:lnTo>
                    <a:pt x="3144964" y="1133284"/>
                  </a:lnTo>
                  <a:lnTo>
                    <a:pt x="0" y="1133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72" r="0" b="-4072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0"/>
              <a:ext cx="3144964" cy="1133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Thank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626566" y="1618383"/>
            <a:ext cx="1439637" cy="849963"/>
            <a:chOff x="0" y="0"/>
            <a:chExt cx="1919516" cy="113328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19478" cy="1133221"/>
            </a:xfrm>
            <a:custGeom>
              <a:avLst/>
              <a:gdLst/>
              <a:ahLst/>
              <a:cxnLst/>
              <a:rect r="r" b="b" t="t" l="l"/>
              <a:pathLst>
                <a:path h="1133221" w="1919478">
                  <a:moveTo>
                    <a:pt x="0" y="0"/>
                  </a:moveTo>
                  <a:lnTo>
                    <a:pt x="1919478" y="0"/>
                  </a:lnTo>
                  <a:lnTo>
                    <a:pt x="1919478" y="1133221"/>
                  </a:lnTo>
                  <a:lnTo>
                    <a:pt x="0" y="113322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5803" t="0" r="-25805" b="-5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2626566" y="1618383"/>
            <a:ext cx="1439637" cy="849963"/>
            <a:chOff x="0" y="0"/>
            <a:chExt cx="1919516" cy="113328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919516" cy="1133284"/>
            </a:xfrm>
            <a:custGeom>
              <a:avLst/>
              <a:gdLst/>
              <a:ahLst/>
              <a:cxnLst/>
              <a:rect r="r" b="b" t="t" l="l"/>
              <a:pathLst>
                <a:path h="1133284" w="1919516">
                  <a:moveTo>
                    <a:pt x="0" y="0"/>
                  </a:moveTo>
                  <a:lnTo>
                    <a:pt x="1919516" y="0"/>
                  </a:lnTo>
                  <a:lnTo>
                    <a:pt x="1919516" y="1133284"/>
                  </a:lnTo>
                  <a:lnTo>
                    <a:pt x="0" y="11332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5750" t="0" r="-25750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919516" cy="1133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20"/>
                </a:lnSpc>
              </a:pPr>
              <a:r>
                <a:rPr lang="en-US" sz="4350" b="true">
                  <a:solidFill>
                    <a:srgbClr val="7052D7"/>
                  </a:solidFill>
                  <a:latin typeface="Aptos Bold"/>
                  <a:ea typeface="Aptos Bold"/>
                  <a:cs typeface="Aptos Bold"/>
                  <a:sym typeface="Aptos Bold"/>
                </a:rPr>
                <a:t>You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01163" y="2523963"/>
            <a:ext cx="4361021" cy="61055"/>
            <a:chOff x="0" y="0"/>
            <a:chExt cx="5814695" cy="8140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814695" cy="81407"/>
            </a:xfrm>
            <a:custGeom>
              <a:avLst/>
              <a:gdLst/>
              <a:ahLst/>
              <a:cxnLst/>
              <a:rect r="r" b="b" t="t" l="l"/>
              <a:pathLst>
                <a:path h="81407" w="5814695">
                  <a:moveTo>
                    <a:pt x="0" y="0"/>
                  </a:moveTo>
                  <a:lnTo>
                    <a:pt x="5814695" y="0"/>
                  </a:lnTo>
                  <a:lnTo>
                    <a:pt x="5814695" y="81407"/>
                  </a:lnTo>
                  <a:lnTo>
                    <a:pt x="0" y="81407"/>
                  </a:lnTo>
                  <a:close/>
                </a:path>
              </a:pathLst>
            </a:custGeom>
            <a:solidFill>
              <a:srgbClr val="7052D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028700" y="2880360"/>
            <a:ext cx="4319997" cy="493024"/>
            <a:chOff x="0" y="0"/>
            <a:chExt cx="5759996" cy="6573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759958" cy="657352"/>
            </a:xfrm>
            <a:custGeom>
              <a:avLst/>
              <a:gdLst/>
              <a:ahLst/>
              <a:cxnLst/>
              <a:rect r="r" b="b" t="t" l="l"/>
              <a:pathLst>
                <a:path h="657352" w="5759958">
                  <a:moveTo>
                    <a:pt x="0" y="0"/>
                  </a:moveTo>
                  <a:lnTo>
                    <a:pt x="5759958" y="0"/>
                  </a:lnTo>
                  <a:lnTo>
                    <a:pt x="5759958" y="657352"/>
                  </a:lnTo>
                  <a:lnTo>
                    <a:pt x="0" y="65735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616" r="0" b="-120618"/>
              </a:stretch>
            </a:blip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028700" y="2880360"/>
            <a:ext cx="4319997" cy="493024"/>
            <a:chOff x="0" y="0"/>
            <a:chExt cx="5759996" cy="65736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759996" cy="657365"/>
            </a:xfrm>
            <a:custGeom>
              <a:avLst/>
              <a:gdLst/>
              <a:ahLst/>
              <a:cxnLst/>
              <a:rect r="r" b="b" t="t" l="l"/>
              <a:pathLst>
                <a:path h="657365" w="5759996">
                  <a:moveTo>
                    <a:pt x="0" y="0"/>
                  </a:moveTo>
                  <a:lnTo>
                    <a:pt x="5759996" y="0"/>
                  </a:lnTo>
                  <a:lnTo>
                    <a:pt x="5759996" y="657365"/>
                  </a:lnTo>
                  <a:lnTo>
                    <a:pt x="0" y="657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0732" r="0" b="-120732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0"/>
              <a:ext cx="5759996" cy="6573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8"/>
                </a:lnSpc>
              </a:pPr>
              <a:r>
                <a:rPr lang="en-US" sz="2400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Questions &amp; Discussion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28700" y="3387957"/>
            <a:ext cx="5074377" cy="410937"/>
            <a:chOff x="0" y="0"/>
            <a:chExt cx="6765836" cy="54791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765798" cy="547878"/>
            </a:xfrm>
            <a:custGeom>
              <a:avLst/>
              <a:gdLst/>
              <a:ahLst/>
              <a:cxnLst/>
              <a:rect r="r" b="b" t="t" l="l"/>
              <a:pathLst>
                <a:path h="547878" w="6765798">
                  <a:moveTo>
                    <a:pt x="0" y="0"/>
                  </a:moveTo>
                  <a:lnTo>
                    <a:pt x="6765798" y="0"/>
                  </a:lnTo>
                  <a:lnTo>
                    <a:pt x="6765798" y="547878"/>
                  </a:lnTo>
                  <a:lnTo>
                    <a:pt x="0" y="547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90452" r="0" b="-190461"/>
              </a:stretch>
            </a:blip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028700" y="3387957"/>
            <a:ext cx="5074377" cy="410937"/>
            <a:chOff x="0" y="0"/>
            <a:chExt cx="6765836" cy="547916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765836" cy="547916"/>
            </a:xfrm>
            <a:custGeom>
              <a:avLst/>
              <a:gdLst/>
              <a:ahLst/>
              <a:cxnLst/>
              <a:rect r="r" b="b" t="t" l="l"/>
              <a:pathLst>
                <a:path h="547916" w="6765836">
                  <a:moveTo>
                    <a:pt x="0" y="0"/>
                  </a:moveTo>
                  <a:lnTo>
                    <a:pt x="6765836" y="0"/>
                  </a:lnTo>
                  <a:lnTo>
                    <a:pt x="6765836" y="547916"/>
                  </a:lnTo>
                  <a:lnTo>
                    <a:pt x="0" y="547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0607" r="0" b="-190607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0"/>
              <a:ext cx="6765836" cy="547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89"/>
                </a:lnSpc>
              </a:pPr>
              <a:r>
                <a:rPr lang="en-US" sz="1575">
                  <a:solidFill>
                    <a:srgbClr val="697E9D"/>
                  </a:solidFill>
                  <a:latin typeface="Aptos"/>
                  <a:ea typeface="Aptos"/>
                  <a:cs typeface="Aptos"/>
                  <a:sym typeface="Aptos"/>
                </a:rPr>
                <a:t>Thank you for your time and attention.</a:t>
              </a: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969321" y="4124001"/>
            <a:ext cx="5659755" cy="1682115"/>
          </a:xfrm>
          <a:custGeom>
            <a:avLst/>
            <a:gdLst/>
            <a:ahLst/>
            <a:cxnLst/>
            <a:rect r="r" b="b" t="t" l="l"/>
            <a:pathLst>
              <a:path h="1682115" w="5659755">
                <a:moveTo>
                  <a:pt x="0" y="0"/>
                </a:moveTo>
                <a:lnTo>
                  <a:pt x="5659755" y="0"/>
                </a:lnTo>
                <a:lnTo>
                  <a:pt x="5659755" y="1682115"/>
                </a:lnTo>
                <a:lnTo>
                  <a:pt x="0" y="168211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399137" y="4430163"/>
            <a:ext cx="4731477" cy="301323"/>
            <a:chOff x="0" y="0"/>
            <a:chExt cx="6308636" cy="401764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308598" cy="401701"/>
            </a:xfrm>
            <a:custGeom>
              <a:avLst/>
              <a:gdLst/>
              <a:ahLst/>
              <a:cxnLst/>
              <a:rect r="r" b="b" t="t" l="l"/>
              <a:pathLst>
                <a:path h="401701" w="6308598">
                  <a:moveTo>
                    <a:pt x="0" y="0"/>
                  </a:moveTo>
                  <a:lnTo>
                    <a:pt x="6308598" y="0"/>
                  </a:lnTo>
                  <a:lnTo>
                    <a:pt x="630859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55788" r="0" b="-255804"/>
              </a:stretch>
            </a:blip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399137" y="4423019"/>
            <a:ext cx="4731477" cy="308467"/>
            <a:chOff x="0" y="0"/>
            <a:chExt cx="6308636" cy="41129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308636" cy="411289"/>
            </a:xfrm>
            <a:custGeom>
              <a:avLst/>
              <a:gdLst/>
              <a:ahLst/>
              <a:cxnLst/>
              <a:rect r="r" b="b" t="t" l="l"/>
              <a:pathLst>
                <a:path h="411289" w="6308636">
                  <a:moveTo>
                    <a:pt x="0" y="0"/>
                  </a:moveTo>
                  <a:lnTo>
                    <a:pt x="6308636" y="0"/>
                  </a:lnTo>
                  <a:lnTo>
                    <a:pt x="6308636" y="411289"/>
                  </a:lnTo>
                  <a:lnTo>
                    <a:pt x="0" y="411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8874" r="0" b="-248875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6308636" cy="420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 b="true">
                  <a:solidFill>
                    <a:srgbClr val="4971D8"/>
                  </a:solidFill>
                  <a:latin typeface="Aptos Bold"/>
                  <a:ea typeface="Aptos Bold"/>
                  <a:cs typeface="Aptos Bold"/>
                  <a:sym typeface="Aptos Bold"/>
                </a:rPr>
                <a:t>ONE PLATFORM  •  FOUR SERVICES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399137" y="4869180"/>
            <a:ext cx="4868637" cy="410937"/>
            <a:chOff x="0" y="0"/>
            <a:chExt cx="6491516" cy="547916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491478" cy="547878"/>
            </a:xfrm>
            <a:custGeom>
              <a:avLst/>
              <a:gdLst/>
              <a:ahLst/>
              <a:cxnLst/>
              <a:rect r="r" b="b" t="t" l="l"/>
              <a:pathLst>
                <a:path h="547878" w="6491478">
                  <a:moveTo>
                    <a:pt x="0" y="0"/>
                  </a:moveTo>
                  <a:lnTo>
                    <a:pt x="6491478" y="0"/>
                  </a:lnTo>
                  <a:lnTo>
                    <a:pt x="6491478" y="547878"/>
                  </a:lnTo>
                  <a:lnTo>
                    <a:pt x="0" y="5478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0704" r="0" b="-180709"/>
              </a:stretch>
            </a:blip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399137" y="4869180"/>
            <a:ext cx="4868637" cy="410937"/>
            <a:chOff x="0" y="0"/>
            <a:chExt cx="6491516" cy="547916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6491516" cy="547916"/>
            </a:xfrm>
            <a:custGeom>
              <a:avLst/>
              <a:gdLst/>
              <a:ahLst/>
              <a:cxnLst/>
              <a:rect r="r" b="b" t="t" l="l"/>
              <a:pathLst>
                <a:path h="547916" w="6491516">
                  <a:moveTo>
                    <a:pt x="0" y="0"/>
                  </a:moveTo>
                  <a:lnTo>
                    <a:pt x="6491516" y="0"/>
                  </a:lnTo>
                  <a:lnTo>
                    <a:pt x="6491516" y="547916"/>
                  </a:lnTo>
                  <a:lnTo>
                    <a:pt x="0" y="5479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851" r="0" b="-180851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0"/>
              <a:ext cx="6491516" cy="54791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50"/>
                </a:lnSpc>
              </a:pPr>
              <a:r>
                <a:rPr lang="en-US" sz="18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  •  Product  •  Finance  •  Admin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399137" y="5321703"/>
            <a:ext cx="4868637" cy="301323"/>
            <a:chOff x="0" y="0"/>
            <a:chExt cx="6491516" cy="401764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491478" cy="401701"/>
            </a:xfrm>
            <a:custGeom>
              <a:avLst/>
              <a:gdLst/>
              <a:ahLst/>
              <a:cxnLst/>
              <a:rect r="r" b="b" t="t" l="l"/>
              <a:pathLst>
                <a:path h="401701" w="6491478">
                  <a:moveTo>
                    <a:pt x="0" y="0"/>
                  </a:moveTo>
                  <a:lnTo>
                    <a:pt x="6491478" y="0"/>
                  </a:lnTo>
                  <a:lnTo>
                    <a:pt x="6491478" y="401701"/>
                  </a:lnTo>
                  <a:lnTo>
                    <a:pt x="0" y="4017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64653" r="0" b="-264666"/>
              </a:stretch>
            </a:blip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399137" y="5314559"/>
            <a:ext cx="4868637" cy="308467"/>
            <a:chOff x="0" y="0"/>
            <a:chExt cx="6491516" cy="41129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491516" cy="411289"/>
            </a:xfrm>
            <a:custGeom>
              <a:avLst/>
              <a:gdLst/>
              <a:ahLst/>
              <a:cxnLst/>
              <a:rect r="r" b="b" t="t" l="l"/>
              <a:pathLst>
                <a:path h="411289" w="6491516">
                  <a:moveTo>
                    <a:pt x="0" y="0"/>
                  </a:moveTo>
                  <a:lnTo>
                    <a:pt x="6491516" y="0"/>
                  </a:lnTo>
                  <a:lnTo>
                    <a:pt x="6491516" y="411289"/>
                  </a:lnTo>
                  <a:lnTo>
                    <a:pt x="0" y="41128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7539" r="0" b="-257539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9525"/>
              <a:ext cx="6491516" cy="4208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0"/>
                </a:lnSpc>
              </a:pPr>
              <a:r>
                <a:rPr lang="en-US" sz="1275">
                  <a:solidFill>
                    <a:srgbClr val="697E9D"/>
                  </a:solidFill>
                  <a:latin typeface="Aptos"/>
                  <a:ea typeface="Aptos"/>
                  <a:cs typeface="Aptos"/>
                  <a:sym typeface="Aptos"/>
                </a:rPr>
                <a:t>Connected through an API Gateway and service discovery.</a:t>
              </a:r>
            </a:p>
          </p:txBody>
        </p:sp>
      </p:grpSp>
      <p:sp>
        <p:nvSpPr>
          <p:cNvPr name="Freeform 56" id="56"/>
          <p:cNvSpPr/>
          <p:nvPr/>
        </p:nvSpPr>
        <p:spPr>
          <a:xfrm flipH="false" flipV="false" rot="0">
            <a:off x="7691828" y="1121654"/>
            <a:ext cx="7782306" cy="7302246"/>
          </a:xfrm>
          <a:custGeom>
            <a:avLst/>
            <a:gdLst/>
            <a:ahLst/>
            <a:cxnLst/>
            <a:rect r="r" b="b" t="t" l="l"/>
            <a:pathLst>
              <a:path h="7302246" w="7782306">
                <a:moveTo>
                  <a:pt x="0" y="0"/>
                </a:moveTo>
                <a:lnTo>
                  <a:pt x="7782306" y="0"/>
                </a:lnTo>
                <a:lnTo>
                  <a:pt x="7782306" y="7302246"/>
                </a:lnTo>
                <a:lnTo>
                  <a:pt x="0" y="730224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7" id="57"/>
          <p:cNvSpPr/>
          <p:nvPr/>
        </p:nvSpPr>
        <p:spPr>
          <a:xfrm rot="131160">
            <a:off x="10148345" y="3748602"/>
            <a:ext cx="249765" cy="0"/>
          </a:xfrm>
          <a:prstGeom prst="line">
            <a:avLst/>
          </a:prstGeom>
          <a:ln cap="rnd" w="9525">
            <a:solidFill>
              <a:srgbClr val="AABF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8" id="58"/>
          <p:cNvSpPr/>
          <p:nvPr/>
        </p:nvSpPr>
        <p:spPr>
          <a:xfrm rot="48720">
            <a:off x="12735420" y="3748602"/>
            <a:ext cx="672160" cy="0"/>
          </a:xfrm>
          <a:prstGeom prst="line">
            <a:avLst/>
          </a:prstGeom>
          <a:ln cap="rnd" w="9525">
            <a:solidFill>
              <a:srgbClr val="AABF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9" id="59"/>
          <p:cNvSpPr/>
          <p:nvPr/>
        </p:nvSpPr>
        <p:spPr>
          <a:xfrm>
            <a:off x="11562178" y="4452471"/>
            <a:ext cx="17045" cy="913495"/>
          </a:xfrm>
          <a:prstGeom prst="line">
            <a:avLst/>
          </a:prstGeom>
          <a:ln cap="rnd" w="9525">
            <a:solidFill>
              <a:srgbClr val="AABF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>
            <a:off x="12493255" y="4452471"/>
            <a:ext cx="1866988" cy="878433"/>
          </a:xfrm>
          <a:prstGeom prst="line">
            <a:avLst/>
          </a:prstGeom>
          <a:ln cap="rnd" w="9525">
            <a:solidFill>
              <a:srgbClr val="AABFE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1" id="61"/>
          <p:cNvSpPr/>
          <p:nvPr/>
        </p:nvSpPr>
        <p:spPr>
          <a:xfrm flipH="false" flipV="false" rot="0">
            <a:off x="10350741" y="3237081"/>
            <a:ext cx="2422874" cy="1215390"/>
          </a:xfrm>
          <a:custGeom>
            <a:avLst/>
            <a:gdLst/>
            <a:ahLst/>
            <a:cxnLst/>
            <a:rect r="r" b="b" t="t" l="l"/>
            <a:pathLst>
              <a:path h="1215390" w="2422874">
                <a:moveTo>
                  <a:pt x="0" y="0"/>
                </a:moveTo>
                <a:lnTo>
                  <a:pt x="2422875" y="0"/>
                </a:lnTo>
                <a:lnTo>
                  <a:pt x="2422875" y="1215390"/>
                </a:lnTo>
                <a:lnTo>
                  <a:pt x="0" y="121539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2" id="62"/>
          <p:cNvGrpSpPr/>
          <p:nvPr/>
        </p:nvGrpSpPr>
        <p:grpSpPr>
          <a:xfrm rot="0">
            <a:off x="10369077" y="3484083"/>
            <a:ext cx="2386260" cy="548097"/>
            <a:chOff x="0" y="0"/>
            <a:chExt cx="3181680" cy="730796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181731" cy="730758"/>
            </a:xfrm>
            <a:custGeom>
              <a:avLst/>
              <a:gdLst/>
              <a:ahLst/>
              <a:cxnLst/>
              <a:rect r="r" b="b" t="t" l="l"/>
              <a:pathLst>
                <a:path h="730758" w="3181731">
                  <a:moveTo>
                    <a:pt x="0" y="0"/>
                  </a:moveTo>
                  <a:lnTo>
                    <a:pt x="3181731" y="0"/>
                  </a:lnTo>
                  <a:lnTo>
                    <a:pt x="3181731" y="730758"/>
                  </a:lnTo>
                  <a:lnTo>
                    <a:pt x="0" y="73075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774" r="1" b="-34781"/>
              </a:stretch>
            </a:blip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10369077" y="3484083"/>
            <a:ext cx="2386260" cy="548097"/>
            <a:chOff x="0" y="0"/>
            <a:chExt cx="3181680" cy="730796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181680" cy="730796"/>
            </a:xfrm>
            <a:custGeom>
              <a:avLst/>
              <a:gdLst/>
              <a:ahLst/>
              <a:cxnLst/>
              <a:rect r="r" b="b" t="t" l="l"/>
              <a:pathLst>
                <a:path h="730796" w="3181680">
                  <a:moveTo>
                    <a:pt x="0" y="0"/>
                  </a:moveTo>
                  <a:lnTo>
                    <a:pt x="3181680" y="0"/>
                  </a:lnTo>
                  <a:lnTo>
                    <a:pt x="3181680" y="730796"/>
                  </a:lnTo>
                  <a:lnTo>
                    <a:pt x="0" y="7307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32" r="0" b="-34832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0"/>
              <a:ext cx="3181680" cy="7307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340"/>
                </a:lnSpc>
              </a:pPr>
              <a:r>
                <a:rPr lang="en-US" sz="1950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FUSIONPAY</a:t>
              </a:r>
            </a:p>
          </p:txBody>
        </p:sp>
      </p:grpSp>
      <p:sp>
        <p:nvSpPr>
          <p:cNvPr name="Freeform 67" id="67"/>
          <p:cNvSpPr/>
          <p:nvPr/>
        </p:nvSpPr>
        <p:spPr>
          <a:xfrm flipH="false" flipV="false" rot="0">
            <a:off x="10570197" y="1463135"/>
            <a:ext cx="1983962" cy="831628"/>
          </a:xfrm>
          <a:custGeom>
            <a:avLst/>
            <a:gdLst/>
            <a:ahLst/>
            <a:cxnLst/>
            <a:rect r="r" b="b" t="t" l="l"/>
            <a:pathLst>
              <a:path h="831628" w="1983962">
                <a:moveTo>
                  <a:pt x="0" y="0"/>
                </a:moveTo>
                <a:lnTo>
                  <a:pt x="1983963" y="0"/>
                </a:lnTo>
                <a:lnTo>
                  <a:pt x="1983963" y="831628"/>
                </a:lnTo>
                <a:lnTo>
                  <a:pt x="0" y="83162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8" id="68"/>
          <p:cNvGrpSpPr/>
          <p:nvPr/>
        </p:nvGrpSpPr>
        <p:grpSpPr>
          <a:xfrm rot="0">
            <a:off x="10726017" y="1645920"/>
            <a:ext cx="150114" cy="466058"/>
            <a:chOff x="0" y="0"/>
            <a:chExt cx="200152" cy="621411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00152" cy="621411"/>
            </a:xfrm>
            <a:custGeom>
              <a:avLst/>
              <a:gdLst/>
              <a:ahLst/>
              <a:cxnLst/>
              <a:rect r="r" b="b" t="t" l="l"/>
              <a:pathLst>
                <a:path h="621411" w="200152">
                  <a:moveTo>
                    <a:pt x="0" y="33401"/>
                  </a:moveTo>
                  <a:cubicBezTo>
                    <a:pt x="0" y="14986"/>
                    <a:pt x="14986" y="0"/>
                    <a:pt x="33401" y="0"/>
                  </a:cubicBezTo>
                  <a:lnTo>
                    <a:pt x="166751" y="0"/>
                  </a:lnTo>
                  <a:cubicBezTo>
                    <a:pt x="185166" y="0"/>
                    <a:pt x="200152" y="14986"/>
                    <a:pt x="200152" y="33401"/>
                  </a:cubicBezTo>
                  <a:lnTo>
                    <a:pt x="200152" y="588010"/>
                  </a:lnTo>
                  <a:cubicBezTo>
                    <a:pt x="200152" y="606425"/>
                    <a:pt x="185166" y="621411"/>
                    <a:pt x="166751" y="621411"/>
                  </a:cubicBezTo>
                  <a:lnTo>
                    <a:pt x="33401" y="621411"/>
                  </a:lnTo>
                  <a:cubicBezTo>
                    <a:pt x="14986" y="621411"/>
                    <a:pt x="0" y="606425"/>
                    <a:pt x="0" y="588010"/>
                  </a:cubicBezTo>
                  <a:close/>
                </a:path>
              </a:pathLst>
            </a:custGeom>
            <a:solidFill>
              <a:srgbClr val="7052D7"/>
            </a:solidFill>
          </p:spPr>
        </p:sp>
      </p:grpSp>
      <p:grpSp>
        <p:nvGrpSpPr>
          <p:cNvPr name="Group 70" id="70"/>
          <p:cNvGrpSpPr/>
          <p:nvPr/>
        </p:nvGrpSpPr>
        <p:grpSpPr>
          <a:xfrm rot="0">
            <a:off x="10917717" y="1481223"/>
            <a:ext cx="1508217" cy="794880"/>
            <a:chOff x="0" y="0"/>
            <a:chExt cx="2010956" cy="105984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2010918" cy="1059815"/>
            </a:xfrm>
            <a:custGeom>
              <a:avLst/>
              <a:gdLst/>
              <a:ahLst/>
              <a:cxnLst/>
              <a:rect r="r" b="b" t="t" l="l"/>
              <a:pathLst>
                <a:path h="1059815" w="2010918">
                  <a:moveTo>
                    <a:pt x="0" y="0"/>
                  </a:moveTo>
                  <a:lnTo>
                    <a:pt x="2010918" y="0"/>
                  </a:lnTo>
                  <a:lnTo>
                    <a:pt x="2010918" y="1059815"/>
                  </a:lnTo>
                  <a:lnTo>
                    <a:pt x="0" y="1059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667" t="0" r="-17669" b="-2"/>
              </a:stretch>
            </a:blipFill>
          </p:spPr>
        </p:sp>
      </p:grpSp>
      <p:grpSp>
        <p:nvGrpSpPr>
          <p:cNvPr name="Group 72" id="72"/>
          <p:cNvGrpSpPr/>
          <p:nvPr/>
        </p:nvGrpSpPr>
        <p:grpSpPr>
          <a:xfrm rot="0">
            <a:off x="10917717" y="1492739"/>
            <a:ext cx="1508217" cy="802024"/>
            <a:chOff x="0" y="0"/>
            <a:chExt cx="2010956" cy="1069365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010956" cy="1069365"/>
            </a:xfrm>
            <a:custGeom>
              <a:avLst/>
              <a:gdLst/>
              <a:ahLst/>
              <a:cxnLst/>
              <a:rect r="r" b="b" t="t" l="l"/>
              <a:pathLst>
                <a:path h="1069365" w="2010956">
                  <a:moveTo>
                    <a:pt x="0" y="0"/>
                  </a:moveTo>
                  <a:lnTo>
                    <a:pt x="2010956" y="0"/>
                  </a:lnTo>
                  <a:lnTo>
                    <a:pt x="2010956" y="1069365"/>
                  </a:lnTo>
                  <a:lnTo>
                    <a:pt x="0" y="1069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27" t="0" r="-18227" b="0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9525"/>
              <a:ext cx="2010956" cy="1078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API GATEWAY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8211264" y="3301041"/>
            <a:ext cx="1983962" cy="831628"/>
          </a:xfrm>
          <a:custGeom>
            <a:avLst/>
            <a:gdLst/>
            <a:ahLst/>
            <a:cxnLst/>
            <a:rect r="r" b="b" t="t" l="l"/>
            <a:pathLst>
              <a:path h="831628" w="1983962">
                <a:moveTo>
                  <a:pt x="0" y="0"/>
                </a:moveTo>
                <a:lnTo>
                  <a:pt x="1983963" y="0"/>
                </a:lnTo>
                <a:lnTo>
                  <a:pt x="1983963" y="831628"/>
                </a:lnTo>
                <a:lnTo>
                  <a:pt x="0" y="83162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6" id="76"/>
          <p:cNvGrpSpPr/>
          <p:nvPr/>
        </p:nvGrpSpPr>
        <p:grpSpPr>
          <a:xfrm rot="0">
            <a:off x="8366760" y="3484083"/>
            <a:ext cx="150114" cy="466058"/>
            <a:chOff x="0" y="0"/>
            <a:chExt cx="200152" cy="621411"/>
          </a:xfrm>
        </p:grpSpPr>
        <p:sp>
          <p:nvSpPr>
            <p:cNvPr name="Freeform 77" id="77"/>
            <p:cNvSpPr/>
            <p:nvPr/>
          </p:nvSpPr>
          <p:spPr>
            <a:xfrm flipH="false" flipV="false" rot="0">
              <a:off x="0" y="0"/>
              <a:ext cx="200152" cy="621411"/>
            </a:xfrm>
            <a:custGeom>
              <a:avLst/>
              <a:gdLst/>
              <a:ahLst/>
              <a:cxnLst/>
              <a:rect r="r" b="b" t="t" l="l"/>
              <a:pathLst>
                <a:path h="621411" w="200152">
                  <a:moveTo>
                    <a:pt x="0" y="33401"/>
                  </a:moveTo>
                  <a:cubicBezTo>
                    <a:pt x="0" y="14986"/>
                    <a:pt x="14986" y="0"/>
                    <a:pt x="33401" y="0"/>
                  </a:cubicBezTo>
                  <a:lnTo>
                    <a:pt x="166751" y="0"/>
                  </a:lnTo>
                  <a:cubicBezTo>
                    <a:pt x="185166" y="0"/>
                    <a:pt x="200152" y="14986"/>
                    <a:pt x="200152" y="33401"/>
                  </a:cubicBezTo>
                  <a:lnTo>
                    <a:pt x="200152" y="588010"/>
                  </a:lnTo>
                  <a:cubicBezTo>
                    <a:pt x="200152" y="606425"/>
                    <a:pt x="185166" y="621411"/>
                    <a:pt x="166751" y="621411"/>
                  </a:cubicBezTo>
                  <a:lnTo>
                    <a:pt x="33401" y="621411"/>
                  </a:lnTo>
                  <a:cubicBezTo>
                    <a:pt x="14986" y="621411"/>
                    <a:pt x="0" y="606425"/>
                    <a:pt x="0" y="588010"/>
                  </a:cubicBezTo>
                  <a:close/>
                </a:path>
              </a:pathLst>
            </a:custGeom>
            <a:solidFill>
              <a:srgbClr val="4971D8"/>
            </a:solidFill>
          </p:spPr>
        </p:sp>
      </p:grpSp>
      <p:grpSp>
        <p:nvGrpSpPr>
          <p:cNvPr name="Group 78" id="78"/>
          <p:cNvGrpSpPr/>
          <p:nvPr/>
        </p:nvGrpSpPr>
        <p:grpSpPr>
          <a:xfrm rot="0">
            <a:off x="8559003" y="3319377"/>
            <a:ext cx="1508217" cy="794880"/>
            <a:chOff x="0" y="0"/>
            <a:chExt cx="2010956" cy="1059840"/>
          </a:xfrm>
        </p:grpSpPr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10918" cy="1059815"/>
            </a:xfrm>
            <a:custGeom>
              <a:avLst/>
              <a:gdLst/>
              <a:ahLst/>
              <a:cxnLst/>
              <a:rect r="r" b="b" t="t" l="l"/>
              <a:pathLst>
                <a:path h="1059815" w="2010918">
                  <a:moveTo>
                    <a:pt x="0" y="0"/>
                  </a:moveTo>
                  <a:lnTo>
                    <a:pt x="2010918" y="0"/>
                  </a:lnTo>
                  <a:lnTo>
                    <a:pt x="2010918" y="1059815"/>
                  </a:lnTo>
                  <a:lnTo>
                    <a:pt x="0" y="1059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667" t="0" r="-17669" b="-2"/>
              </a:stretch>
            </a:blip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8559003" y="3312233"/>
            <a:ext cx="1508217" cy="802024"/>
            <a:chOff x="0" y="0"/>
            <a:chExt cx="2010956" cy="1069365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010956" cy="1069365"/>
            </a:xfrm>
            <a:custGeom>
              <a:avLst/>
              <a:gdLst/>
              <a:ahLst/>
              <a:cxnLst/>
              <a:rect r="r" b="b" t="t" l="l"/>
              <a:pathLst>
                <a:path h="1069365" w="2010956">
                  <a:moveTo>
                    <a:pt x="0" y="0"/>
                  </a:moveTo>
                  <a:lnTo>
                    <a:pt x="2010956" y="0"/>
                  </a:lnTo>
                  <a:lnTo>
                    <a:pt x="2010956" y="1069365"/>
                  </a:lnTo>
                  <a:lnTo>
                    <a:pt x="0" y="1069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27" t="0" r="-18227" b="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9525"/>
              <a:ext cx="2010956" cy="1078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USER</a:t>
              </a:r>
            </a:p>
          </p:txBody>
        </p:sp>
      </p:grpSp>
      <p:sp>
        <p:nvSpPr>
          <p:cNvPr name="Freeform 83" id="83"/>
          <p:cNvSpPr/>
          <p:nvPr/>
        </p:nvSpPr>
        <p:spPr>
          <a:xfrm flipH="false" flipV="false" rot="0">
            <a:off x="13368261" y="3301041"/>
            <a:ext cx="1983962" cy="831628"/>
          </a:xfrm>
          <a:custGeom>
            <a:avLst/>
            <a:gdLst/>
            <a:ahLst/>
            <a:cxnLst/>
            <a:rect r="r" b="b" t="t" l="l"/>
            <a:pathLst>
              <a:path h="831628" w="1983962">
                <a:moveTo>
                  <a:pt x="0" y="0"/>
                </a:moveTo>
                <a:lnTo>
                  <a:pt x="1983963" y="0"/>
                </a:lnTo>
                <a:lnTo>
                  <a:pt x="1983963" y="831628"/>
                </a:lnTo>
                <a:lnTo>
                  <a:pt x="0" y="831628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4" id="84"/>
          <p:cNvGrpSpPr/>
          <p:nvPr/>
        </p:nvGrpSpPr>
        <p:grpSpPr>
          <a:xfrm rot="0">
            <a:off x="13523757" y="3484083"/>
            <a:ext cx="150114" cy="466058"/>
            <a:chOff x="0" y="0"/>
            <a:chExt cx="200152" cy="621411"/>
          </a:xfrm>
        </p:grpSpPr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00152" cy="621411"/>
            </a:xfrm>
            <a:custGeom>
              <a:avLst/>
              <a:gdLst/>
              <a:ahLst/>
              <a:cxnLst/>
              <a:rect r="r" b="b" t="t" l="l"/>
              <a:pathLst>
                <a:path h="621411" w="200152">
                  <a:moveTo>
                    <a:pt x="0" y="33401"/>
                  </a:moveTo>
                  <a:cubicBezTo>
                    <a:pt x="0" y="14986"/>
                    <a:pt x="14986" y="0"/>
                    <a:pt x="33401" y="0"/>
                  </a:cubicBezTo>
                  <a:lnTo>
                    <a:pt x="166751" y="0"/>
                  </a:lnTo>
                  <a:cubicBezTo>
                    <a:pt x="185166" y="0"/>
                    <a:pt x="200152" y="14986"/>
                    <a:pt x="200152" y="33401"/>
                  </a:cubicBezTo>
                  <a:lnTo>
                    <a:pt x="200152" y="588010"/>
                  </a:lnTo>
                  <a:cubicBezTo>
                    <a:pt x="200152" y="606425"/>
                    <a:pt x="185166" y="621411"/>
                    <a:pt x="166751" y="621411"/>
                  </a:cubicBezTo>
                  <a:lnTo>
                    <a:pt x="33401" y="621411"/>
                  </a:lnTo>
                  <a:cubicBezTo>
                    <a:pt x="14986" y="621411"/>
                    <a:pt x="0" y="606425"/>
                    <a:pt x="0" y="588010"/>
                  </a:cubicBezTo>
                  <a:close/>
                </a:path>
              </a:pathLst>
            </a:custGeom>
            <a:solidFill>
              <a:srgbClr val="32B7B0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716000" y="3319377"/>
            <a:ext cx="1508217" cy="794880"/>
            <a:chOff x="0" y="0"/>
            <a:chExt cx="2010956" cy="105984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010918" cy="1059815"/>
            </a:xfrm>
            <a:custGeom>
              <a:avLst/>
              <a:gdLst/>
              <a:ahLst/>
              <a:cxnLst/>
              <a:rect r="r" b="b" t="t" l="l"/>
              <a:pathLst>
                <a:path h="1059815" w="2010918">
                  <a:moveTo>
                    <a:pt x="0" y="0"/>
                  </a:moveTo>
                  <a:lnTo>
                    <a:pt x="2010918" y="0"/>
                  </a:lnTo>
                  <a:lnTo>
                    <a:pt x="2010918" y="1059815"/>
                  </a:lnTo>
                  <a:lnTo>
                    <a:pt x="0" y="1059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667" t="0" r="-17669" b="-2"/>
              </a:stretch>
            </a:blipFill>
          </p:spPr>
        </p:sp>
      </p:grpSp>
      <p:grpSp>
        <p:nvGrpSpPr>
          <p:cNvPr name="Group 88" id="88"/>
          <p:cNvGrpSpPr/>
          <p:nvPr/>
        </p:nvGrpSpPr>
        <p:grpSpPr>
          <a:xfrm rot="0">
            <a:off x="13716000" y="3312233"/>
            <a:ext cx="1508217" cy="802024"/>
            <a:chOff x="0" y="0"/>
            <a:chExt cx="2010956" cy="1069365"/>
          </a:xfrm>
        </p:grpSpPr>
        <p:sp>
          <p:nvSpPr>
            <p:cNvPr name="Freeform 89" id="89"/>
            <p:cNvSpPr/>
            <p:nvPr/>
          </p:nvSpPr>
          <p:spPr>
            <a:xfrm flipH="false" flipV="false" rot="0">
              <a:off x="0" y="0"/>
              <a:ext cx="2010956" cy="1069365"/>
            </a:xfrm>
            <a:custGeom>
              <a:avLst/>
              <a:gdLst/>
              <a:ahLst/>
              <a:cxnLst/>
              <a:rect r="r" b="b" t="t" l="l"/>
              <a:pathLst>
                <a:path h="1069365" w="2010956">
                  <a:moveTo>
                    <a:pt x="0" y="0"/>
                  </a:moveTo>
                  <a:lnTo>
                    <a:pt x="2010956" y="0"/>
                  </a:lnTo>
                  <a:lnTo>
                    <a:pt x="2010956" y="1069365"/>
                  </a:lnTo>
                  <a:lnTo>
                    <a:pt x="0" y="1069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27" t="0" r="-18227" b="0"/>
              </a:stretch>
            </a:blipFill>
          </p:spPr>
        </p:sp>
        <p:sp>
          <p:nvSpPr>
            <p:cNvPr name="TextBox 90" id="90"/>
            <p:cNvSpPr txBox="true"/>
            <p:nvPr/>
          </p:nvSpPr>
          <p:spPr>
            <a:xfrm>
              <a:off x="0" y="-9525"/>
              <a:ext cx="2010956" cy="1078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PRODUCT</a:t>
              </a:r>
            </a:p>
          </p:txBody>
        </p:sp>
      </p:grpSp>
      <p:sp>
        <p:nvSpPr>
          <p:cNvPr name="Freeform 91" id="91"/>
          <p:cNvSpPr/>
          <p:nvPr/>
        </p:nvSpPr>
        <p:spPr>
          <a:xfrm flipH="false" flipV="false" rot="0">
            <a:off x="10570521" y="5330904"/>
            <a:ext cx="1983962" cy="831628"/>
          </a:xfrm>
          <a:custGeom>
            <a:avLst/>
            <a:gdLst/>
            <a:ahLst/>
            <a:cxnLst/>
            <a:rect r="r" b="b" t="t" l="l"/>
            <a:pathLst>
              <a:path h="831628" w="1983962">
                <a:moveTo>
                  <a:pt x="0" y="0"/>
                </a:moveTo>
                <a:lnTo>
                  <a:pt x="1983962" y="0"/>
                </a:lnTo>
                <a:lnTo>
                  <a:pt x="1983962" y="831628"/>
                </a:lnTo>
                <a:lnTo>
                  <a:pt x="0" y="83162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2" id="92"/>
          <p:cNvGrpSpPr/>
          <p:nvPr/>
        </p:nvGrpSpPr>
        <p:grpSpPr>
          <a:xfrm rot="0">
            <a:off x="10726017" y="5513937"/>
            <a:ext cx="150114" cy="466058"/>
            <a:chOff x="0" y="0"/>
            <a:chExt cx="200152" cy="621411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200152" cy="621411"/>
            </a:xfrm>
            <a:custGeom>
              <a:avLst/>
              <a:gdLst/>
              <a:ahLst/>
              <a:cxnLst/>
              <a:rect r="r" b="b" t="t" l="l"/>
              <a:pathLst>
                <a:path h="621411" w="200152">
                  <a:moveTo>
                    <a:pt x="0" y="33401"/>
                  </a:moveTo>
                  <a:cubicBezTo>
                    <a:pt x="0" y="14986"/>
                    <a:pt x="14986" y="0"/>
                    <a:pt x="33401" y="0"/>
                  </a:cubicBezTo>
                  <a:lnTo>
                    <a:pt x="166751" y="0"/>
                  </a:lnTo>
                  <a:cubicBezTo>
                    <a:pt x="185166" y="0"/>
                    <a:pt x="200152" y="14986"/>
                    <a:pt x="200152" y="33401"/>
                  </a:cubicBezTo>
                  <a:lnTo>
                    <a:pt x="200152" y="588010"/>
                  </a:lnTo>
                  <a:cubicBezTo>
                    <a:pt x="200152" y="606425"/>
                    <a:pt x="185166" y="621411"/>
                    <a:pt x="166751" y="621411"/>
                  </a:cubicBezTo>
                  <a:lnTo>
                    <a:pt x="33401" y="621411"/>
                  </a:lnTo>
                  <a:cubicBezTo>
                    <a:pt x="14986" y="621411"/>
                    <a:pt x="0" y="606425"/>
                    <a:pt x="0" y="588010"/>
                  </a:cubicBezTo>
                  <a:close/>
                </a:path>
              </a:pathLst>
            </a:custGeom>
            <a:solidFill>
              <a:srgbClr val="7052D7"/>
            </a:solidFill>
          </p:spPr>
        </p:sp>
      </p:grpSp>
      <p:grpSp>
        <p:nvGrpSpPr>
          <p:cNvPr name="Group 94" id="94"/>
          <p:cNvGrpSpPr/>
          <p:nvPr/>
        </p:nvGrpSpPr>
        <p:grpSpPr>
          <a:xfrm rot="0">
            <a:off x="10917717" y="5349240"/>
            <a:ext cx="1508217" cy="794880"/>
            <a:chOff x="0" y="0"/>
            <a:chExt cx="2010956" cy="105984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2010918" cy="1059815"/>
            </a:xfrm>
            <a:custGeom>
              <a:avLst/>
              <a:gdLst/>
              <a:ahLst/>
              <a:cxnLst/>
              <a:rect r="r" b="b" t="t" l="l"/>
              <a:pathLst>
                <a:path h="1059815" w="2010918">
                  <a:moveTo>
                    <a:pt x="0" y="0"/>
                  </a:moveTo>
                  <a:lnTo>
                    <a:pt x="2010918" y="0"/>
                  </a:lnTo>
                  <a:lnTo>
                    <a:pt x="2010918" y="1059815"/>
                  </a:lnTo>
                  <a:lnTo>
                    <a:pt x="0" y="1059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667" t="0" r="-17669" b="-2"/>
              </a:stretch>
            </a:blip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0917717" y="5342096"/>
            <a:ext cx="1508217" cy="802024"/>
            <a:chOff x="0" y="0"/>
            <a:chExt cx="2010956" cy="1069365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2010956" cy="1069365"/>
            </a:xfrm>
            <a:custGeom>
              <a:avLst/>
              <a:gdLst/>
              <a:ahLst/>
              <a:cxnLst/>
              <a:rect r="r" b="b" t="t" l="l"/>
              <a:pathLst>
                <a:path h="1069365" w="2010956">
                  <a:moveTo>
                    <a:pt x="0" y="0"/>
                  </a:moveTo>
                  <a:lnTo>
                    <a:pt x="2010956" y="0"/>
                  </a:lnTo>
                  <a:lnTo>
                    <a:pt x="2010956" y="1069365"/>
                  </a:lnTo>
                  <a:lnTo>
                    <a:pt x="0" y="1069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27" t="0" r="-18227" b="0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9525"/>
              <a:ext cx="2010956" cy="1078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FINANCE</a:t>
              </a:r>
            </a:p>
          </p:txBody>
        </p:sp>
      </p:grpSp>
      <p:sp>
        <p:nvSpPr>
          <p:cNvPr name="Freeform 99" id="99"/>
          <p:cNvSpPr/>
          <p:nvPr/>
        </p:nvSpPr>
        <p:spPr>
          <a:xfrm flipH="false" flipV="false" rot="0">
            <a:off x="13368261" y="5330904"/>
            <a:ext cx="1983962" cy="831628"/>
          </a:xfrm>
          <a:custGeom>
            <a:avLst/>
            <a:gdLst/>
            <a:ahLst/>
            <a:cxnLst/>
            <a:rect r="r" b="b" t="t" l="l"/>
            <a:pathLst>
              <a:path h="831628" w="1983962">
                <a:moveTo>
                  <a:pt x="0" y="0"/>
                </a:moveTo>
                <a:lnTo>
                  <a:pt x="1983963" y="0"/>
                </a:lnTo>
                <a:lnTo>
                  <a:pt x="1983963" y="831628"/>
                </a:lnTo>
                <a:lnTo>
                  <a:pt x="0" y="831628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0" id="100"/>
          <p:cNvGrpSpPr/>
          <p:nvPr/>
        </p:nvGrpSpPr>
        <p:grpSpPr>
          <a:xfrm rot="0">
            <a:off x="13523757" y="5513937"/>
            <a:ext cx="150114" cy="466058"/>
            <a:chOff x="0" y="0"/>
            <a:chExt cx="200152" cy="621411"/>
          </a:xfrm>
        </p:grpSpPr>
        <p:sp>
          <p:nvSpPr>
            <p:cNvPr name="Freeform 101" id="101"/>
            <p:cNvSpPr/>
            <p:nvPr/>
          </p:nvSpPr>
          <p:spPr>
            <a:xfrm flipH="false" flipV="false" rot="0">
              <a:off x="0" y="0"/>
              <a:ext cx="200152" cy="621411"/>
            </a:xfrm>
            <a:custGeom>
              <a:avLst/>
              <a:gdLst/>
              <a:ahLst/>
              <a:cxnLst/>
              <a:rect r="r" b="b" t="t" l="l"/>
              <a:pathLst>
                <a:path h="621411" w="200152">
                  <a:moveTo>
                    <a:pt x="0" y="33401"/>
                  </a:moveTo>
                  <a:cubicBezTo>
                    <a:pt x="0" y="14986"/>
                    <a:pt x="14986" y="0"/>
                    <a:pt x="33401" y="0"/>
                  </a:cubicBezTo>
                  <a:lnTo>
                    <a:pt x="166751" y="0"/>
                  </a:lnTo>
                  <a:cubicBezTo>
                    <a:pt x="185166" y="0"/>
                    <a:pt x="200152" y="14986"/>
                    <a:pt x="200152" y="33401"/>
                  </a:cubicBezTo>
                  <a:lnTo>
                    <a:pt x="200152" y="588010"/>
                  </a:lnTo>
                  <a:cubicBezTo>
                    <a:pt x="200152" y="606425"/>
                    <a:pt x="185166" y="621411"/>
                    <a:pt x="166751" y="621411"/>
                  </a:cubicBezTo>
                  <a:lnTo>
                    <a:pt x="33401" y="621411"/>
                  </a:lnTo>
                  <a:cubicBezTo>
                    <a:pt x="14986" y="621411"/>
                    <a:pt x="0" y="606425"/>
                    <a:pt x="0" y="588010"/>
                  </a:cubicBezTo>
                  <a:close/>
                </a:path>
              </a:pathLst>
            </a:custGeom>
            <a:solidFill>
              <a:srgbClr val="F7A43D"/>
            </a:solidFill>
          </p:spPr>
        </p:sp>
      </p:grpSp>
      <p:grpSp>
        <p:nvGrpSpPr>
          <p:cNvPr name="Group 102" id="102"/>
          <p:cNvGrpSpPr/>
          <p:nvPr/>
        </p:nvGrpSpPr>
        <p:grpSpPr>
          <a:xfrm rot="0">
            <a:off x="13716000" y="5349240"/>
            <a:ext cx="1508217" cy="794880"/>
            <a:chOff x="0" y="0"/>
            <a:chExt cx="2010956" cy="105984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010918" cy="1059815"/>
            </a:xfrm>
            <a:custGeom>
              <a:avLst/>
              <a:gdLst/>
              <a:ahLst/>
              <a:cxnLst/>
              <a:rect r="r" b="b" t="t" l="l"/>
              <a:pathLst>
                <a:path h="1059815" w="2010918">
                  <a:moveTo>
                    <a:pt x="0" y="0"/>
                  </a:moveTo>
                  <a:lnTo>
                    <a:pt x="2010918" y="0"/>
                  </a:lnTo>
                  <a:lnTo>
                    <a:pt x="2010918" y="1059815"/>
                  </a:lnTo>
                  <a:lnTo>
                    <a:pt x="0" y="10598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7667" t="0" r="-17669" b="-2"/>
              </a:stretch>
            </a:blip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716000" y="5342096"/>
            <a:ext cx="1508217" cy="802024"/>
            <a:chOff x="0" y="0"/>
            <a:chExt cx="2010956" cy="1069365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2010956" cy="1069365"/>
            </a:xfrm>
            <a:custGeom>
              <a:avLst/>
              <a:gdLst/>
              <a:ahLst/>
              <a:cxnLst/>
              <a:rect r="r" b="b" t="t" l="l"/>
              <a:pathLst>
                <a:path h="1069365" w="2010956">
                  <a:moveTo>
                    <a:pt x="0" y="0"/>
                  </a:moveTo>
                  <a:lnTo>
                    <a:pt x="2010956" y="0"/>
                  </a:lnTo>
                  <a:lnTo>
                    <a:pt x="2010956" y="1069365"/>
                  </a:lnTo>
                  <a:lnTo>
                    <a:pt x="0" y="10693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8227" t="0" r="-18227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9525"/>
              <a:ext cx="2010956" cy="10788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102A5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ADMIN</a:t>
              </a:r>
            </a:p>
          </p:txBody>
        </p:sp>
      </p:grpSp>
      <p:sp>
        <p:nvSpPr>
          <p:cNvPr name="Freeform 107" id="107"/>
          <p:cNvSpPr/>
          <p:nvPr/>
        </p:nvSpPr>
        <p:spPr>
          <a:xfrm flipH="false" flipV="false" rot="0">
            <a:off x="8101641" y="7306227"/>
            <a:ext cx="7333202" cy="818102"/>
          </a:xfrm>
          <a:custGeom>
            <a:avLst/>
            <a:gdLst/>
            <a:ahLst/>
            <a:cxnLst/>
            <a:rect r="r" b="b" t="t" l="l"/>
            <a:pathLst>
              <a:path h="818102" w="7333202">
                <a:moveTo>
                  <a:pt x="0" y="0"/>
                </a:moveTo>
                <a:lnTo>
                  <a:pt x="7333202" y="0"/>
                </a:lnTo>
                <a:lnTo>
                  <a:pt x="7333202" y="818103"/>
                </a:lnTo>
                <a:lnTo>
                  <a:pt x="0" y="81810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8" id="108"/>
          <p:cNvGrpSpPr/>
          <p:nvPr/>
        </p:nvGrpSpPr>
        <p:grpSpPr>
          <a:xfrm rot="0">
            <a:off x="8298180" y="7502757"/>
            <a:ext cx="6926037" cy="342357"/>
            <a:chOff x="0" y="0"/>
            <a:chExt cx="9234716" cy="456476"/>
          </a:xfrm>
        </p:grpSpPr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9234678" cy="456438"/>
            </a:xfrm>
            <a:custGeom>
              <a:avLst/>
              <a:gdLst/>
              <a:ahLst/>
              <a:cxnLst/>
              <a:rect r="r" b="b" t="t" l="l"/>
              <a:pathLst>
                <a:path h="456438" w="9234678">
                  <a:moveTo>
                    <a:pt x="0" y="0"/>
                  </a:moveTo>
                  <a:lnTo>
                    <a:pt x="9234678" y="0"/>
                  </a:lnTo>
                  <a:lnTo>
                    <a:pt x="9234678" y="456438"/>
                  </a:lnTo>
                  <a:lnTo>
                    <a:pt x="0" y="4564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43945" r="0" b="-343953"/>
              </a:stretch>
            </a:blip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8298180" y="7495613"/>
            <a:ext cx="6926037" cy="349501"/>
            <a:chOff x="0" y="0"/>
            <a:chExt cx="9234716" cy="466001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9234716" cy="466001"/>
            </a:xfrm>
            <a:custGeom>
              <a:avLst/>
              <a:gdLst/>
              <a:ahLst/>
              <a:cxnLst/>
              <a:rect r="r" b="b" t="t" l="l"/>
              <a:pathLst>
                <a:path h="466001" w="9234716">
                  <a:moveTo>
                    <a:pt x="0" y="0"/>
                  </a:moveTo>
                  <a:lnTo>
                    <a:pt x="9234716" y="0"/>
                  </a:lnTo>
                  <a:lnTo>
                    <a:pt x="9234716" y="466001"/>
                  </a:lnTo>
                  <a:lnTo>
                    <a:pt x="0" y="4660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6133" r="0" b="-336133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9525"/>
              <a:ext cx="9234716" cy="47552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530"/>
                </a:lnSpc>
              </a:pPr>
              <a:r>
                <a:rPr lang="en-US" sz="1275" b="true">
                  <a:solidFill>
                    <a:srgbClr val="697E9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Spring Boot  •  Angular  •  MySQL  •  Eureka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14566497" y="8421843"/>
            <a:ext cx="1892141" cy="875348"/>
            <a:chOff x="0" y="0"/>
            <a:chExt cx="2522855" cy="1167130"/>
          </a:xfrm>
        </p:grpSpPr>
        <p:sp>
          <p:nvSpPr>
            <p:cNvPr name="Freeform 114" id="114" descr="image.png"/>
            <p:cNvSpPr/>
            <p:nvPr/>
          </p:nvSpPr>
          <p:spPr>
            <a:xfrm flipH="false" flipV="false" rot="0">
              <a:off x="0" y="0"/>
              <a:ext cx="2522855" cy="1167130"/>
            </a:xfrm>
            <a:custGeom>
              <a:avLst/>
              <a:gdLst/>
              <a:ahLst/>
              <a:cxnLst/>
              <a:rect r="r" b="b" t="t" l="l"/>
              <a:pathLst>
                <a:path h="1167130" w="2522855">
                  <a:moveTo>
                    <a:pt x="0" y="0"/>
                  </a:moveTo>
                  <a:lnTo>
                    <a:pt x="2522855" y="0"/>
                  </a:lnTo>
                  <a:lnTo>
                    <a:pt x="2522855" y="1167130"/>
                  </a:lnTo>
                  <a:lnTo>
                    <a:pt x="0" y="11671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-66" t="0" r="-66" b="0"/>
              </a:stretch>
            </a:blipFill>
          </p:spPr>
        </p:sp>
      </p:grpSp>
      <p:grpSp>
        <p:nvGrpSpPr>
          <p:cNvPr name="Group 115" id="115"/>
          <p:cNvGrpSpPr/>
          <p:nvPr/>
        </p:nvGrpSpPr>
        <p:grpSpPr>
          <a:xfrm rot="0">
            <a:off x="754380" y="9217257"/>
            <a:ext cx="16252888" cy="24289"/>
            <a:chOff x="0" y="0"/>
            <a:chExt cx="21670518" cy="32385"/>
          </a:xfrm>
        </p:grpSpPr>
        <p:sp>
          <p:nvSpPr>
            <p:cNvPr name="Freeform 116" id="116"/>
            <p:cNvSpPr/>
            <p:nvPr/>
          </p:nvSpPr>
          <p:spPr>
            <a:xfrm flipH="false" flipV="false" rot="0">
              <a:off x="0" y="0"/>
              <a:ext cx="21670518" cy="32385"/>
            </a:xfrm>
            <a:custGeom>
              <a:avLst/>
              <a:gdLst/>
              <a:ahLst/>
              <a:cxnLst/>
              <a:rect r="r" b="b" t="t" l="l"/>
              <a:pathLst>
                <a:path h="32385" w="21670518">
                  <a:moveTo>
                    <a:pt x="0" y="0"/>
                  </a:moveTo>
                  <a:lnTo>
                    <a:pt x="21670518" y="0"/>
                  </a:lnTo>
                  <a:lnTo>
                    <a:pt x="21670518" y="32385"/>
                  </a:lnTo>
                  <a:lnTo>
                    <a:pt x="0" y="32385"/>
                  </a:lnTo>
                  <a:close/>
                </a:path>
              </a:pathLst>
            </a:custGeom>
            <a:solidFill>
              <a:srgbClr val="D2DEEF"/>
            </a:solidFill>
          </p:spPr>
        </p:sp>
      </p:grpSp>
      <p:grpSp>
        <p:nvGrpSpPr>
          <p:cNvPr name="Group 117" id="117"/>
          <p:cNvGrpSpPr/>
          <p:nvPr/>
        </p:nvGrpSpPr>
        <p:grpSpPr>
          <a:xfrm rot="0">
            <a:off x="822960" y="9354417"/>
            <a:ext cx="4662897" cy="273777"/>
            <a:chOff x="0" y="0"/>
            <a:chExt cx="6217196" cy="365036"/>
          </a:xfrm>
        </p:grpSpPr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6217158" cy="364998"/>
            </a:xfrm>
            <a:custGeom>
              <a:avLst/>
              <a:gdLst/>
              <a:ahLst/>
              <a:cxnLst/>
              <a:rect r="r" b="b" t="t" l="l"/>
              <a:pathLst>
                <a:path h="364998" w="6217158">
                  <a:moveTo>
                    <a:pt x="0" y="0"/>
                  </a:moveTo>
                  <a:lnTo>
                    <a:pt x="6217158" y="0"/>
                  </a:lnTo>
                  <a:lnTo>
                    <a:pt x="6217158" y="364998"/>
                  </a:lnTo>
                  <a:lnTo>
                    <a:pt x="0" y="3649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281663" r="0" b="-281673"/>
              </a:stretch>
            </a:blip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822960" y="9361561"/>
            <a:ext cx="4662897" cy="266633"/>
            <a:chOff x="0" y="0"/>
            <a:chExt cx="6217196" cy="35551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0" y="0"/>
              <a:ext cx="6217196" cy="355511"/>
            </a:xfrm>
            <a:custGeom>
              <a:avLst/>
              <a:gdLst/>
              <a:ahLst/>
              <a:cxnLst/>
              <a:rect r="r" b="b" t="t" l="l"/>
              <a:pathLst>
                <a:path h="355511" w="6217196">
                  <a:moveTo>
                    <a:pt x="0" y="0"/>
                  </a:moveTo>
                  <a:lnTo>
                    <a:pt x="6217196" y="0"/>
                  </a:lnTo>
                  <a:lnTo>
                    <a:pt x="6217196" y="355511"/>
                  </a:lnTo>
                  <a:lnTo>
                    <a:pt x="0" y="3555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755" r="0" b="-290755"/>
              </a:stretch>
            </a:blipFill>
          </p:spPr>
        </p:sp>
        <p:sp>
          <p:nvSpPr>
            <p:cNvPr name="TextBox 121" id="121"/>
            <p:cNvSpPr txBox="true"/>
            <p:nvPr/>
          </p:nvSpPr>
          <p:spPr>
            <a:xfrm>
              <a:off x="0" y="9525"/>
              <a:ext cx="6217196" cy="345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296"/>
                </a:lnSpc>
              </a:pPr>
              <a:r>
                <a:rPr lang="en-US" sz="1080">
                  <a:solidFill>
                    <a:srgbClr val="697E9D"/>
                  </a:solidFill>
                  <a:latin typeface="Aptos"/>
                  <a:ea typeface="Aptos"/>
                  <a:cs typeface="Aptos"/>
                  <a:sym typeface="Aptos"/>
                </a:rPr>
                <a:t>FusionPay  •  Finance Management System</a:t>
              </a:r>
            </a:p>
          </p:txBody>
        </p:sp>
      </p:grpSp>
      <p:grpSp>
        <p:nvGrpSpPr>
          <p:cNvPr name="Group 122" id="122"/>
          <p:cNvGrpSpPr/>
          <p:nvPr/>
        </p:nvGrpSpPr>
        <p:grpSpPr>
          <a:xfrm rot="0">
            <a:off x="13716000" y="9354417"/>
            <a:ext cx="3154137" cy="273777"/>
            <a:chOff x="0" y="0"/>
            <a:chExt cx="4205516" cy="365036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4205478" cy="364998"/>
            </a:xfrm>
            <a:custGeom>
              <a:avLst/>
              <a:gdLst/>
              <a:ahLst/>
              <a:cxnLst/>
              <a:rect r="r" b="b" t="t" l="l"/>
              <a:pathLst>
                <a:path h="364998" w="4205478">
                  <a:moveTo>
                    <a:pt x="0" y="0"/>
                  </a:moveTo>
                  <a:lnTo>
                    <a:pt x="4205478" y="0"/>
                  </a:lnTo>
                  <a:lnTo>
                    <a:pt x="4205478" y="364998"/>
                  </a:lnTo>
                  <a:lnTo>
                    <a:pt x="0" y="36499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74345" r="0" b="-174356"/>
              </a:stretch>
            </a:blipFill>
          </p:spPr>
        </p:sp>
      </p:grpSp>
      <p:grpSp>
        <p:nvGrpSpPr>
          <p:cNvPr name="Group 124" id="124"/>
          <p:cNvGrpSpPr/>
          <p:nvPr/>
        </p:nvGrpSpPr>
        <p:grpSpPr>
          <a:xfrm rot="0">
            <a:off x="13716000" y="9361561"/>
            <a:ext cx="3154137" cy="266633"/>
            <a:chOff x="0" y="0"/>
            <a:chExt cx="4205516" cy="355511"/>
          </a:xfrm>
        </p:grpSpPr>
        <p:sp>
          <p:nvSpPr>
            <p:cNvPr name="Freeform 125" id="125"/>
            <p:cNvSpPr/>
            <p:nvPr/>
          </p:nvSpPr>
          <p:spPr>
            <a:xfrm flipH="false" flipV="false" rot="0">
              <a:off x="0" y="0"/>
              <a:ext cx="4205516" cy="355511"/>
            </a:xfrm>
            <a:custGeom>
              <a:avLst/>
              <a:gdLst/>
              <a:ahLst/>
              <a:cxnLst/>
              <a:rect r="r" b="b" t="t" l="l"/>
              <a:pathLst>
                <a:path h="355511" w="4205516">
                  <a:moveTo>
                    <a:pt x="0" y="0"/>
                  </a:moveTo>
                  <a:lnTo>
                    <a:pt x="4205516" y="0"/>
                  </a:lnTo>
                  <a:lnTo>
                    <a:pt x="4205516" y="355511"/>
                  </a:lnTo>
                  <a:lnTo>
                    <a:pt x="0" y="35551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0498" r="0" b="-180498"/>
              </a:stretch>
            </a:blipFill>
          </p:spPr>
        </p:sp>
        <p:sp>
          <p:nvSpPr>
            <p:cNvPr name="TextBox 126" id="126"/>
            <p:cNvSpPr txBox="true"/>
            <p:nvPr/>
          </p:nvSpPr>
          <p:spPr>
            <a:xfrm>
              <a:off x="0" y="9525"/>
              <a:ext cx="4205516" cy="34598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296"/>
                </a:lnSpc>
              </a:pPr>
              <a:r>
                <a:rPr lang="en-US" sz="1080">
                  <a:solidFill>
                    <a:srgbClr val="697E9D"/>
                  </a:solidFill>
                  <a:latin typeface="Aptos"/>
                  <a:ea typeface="Aptos"/>
                  <a:cs typeface="Aptos"/>
                  <a:sym typeface="Aptos"/>
                </a:rPr>
                <a:t>Questions &amp; Discussion</a:t>
              </a:r>
            </a:p>
          </p:txBody>
        </p:sp>
      </p:grpSp>
      <p:sp>
        <p:nvSpPr>
          <p:cNvPr name="TextBox 127" id="127"/>
          <p:cNvSpPr txBox="true"/>
          <p:nvPr/>
        </p:nvSpPr>
        <p:spPr>
          <a:xfrm rot="0">
            <a:off x="1749057" y="646567"/>
            <a:ext cx="713177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4E78D9"/>
                </a:solidFill>
                <a:latin typeface="Aptos Bold"/>
                <a:ea typeface="Aptos Bold"/>
                <a:cs typeface="Aptos Bold"/>
                <a:sym typeface="Aptos Bold"/>
              </a:rPr>
              <a:t>• </a:t>
            </a:r>
          </a:p>
        </p:txBody>
      </p:sp>
      <p:sp>
        <p:nvSpPr>
          <p:cNvPr name="AutoShape 128" id="128"/>
          <p:cNvSpPr/>
          <p:nvPr/>
        </p:nvSpPr>
        <p:spPr>
          <a:xfrm>
            <a:off x="11562178" y="2341193"/>
            <a:ext cx="0" cy="895888"/>
          </a:xfrm>
          <a:prstGeom prst="line">
            <a:avLst/>
          </a:prstGeom>
          <a:ln cap="rnd" w="9525">
            <a:solidFill>
              <a:srgbClr val="AABFE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DAHXbZP1ASg</dc:identifier>
  <dcterms:modified xsi:type="dcterms:W3CDTF">2011-08-01T06:04:30Z</dcterms:modified>
  <cp:revision>1</cp:revision>
  <dc:title>FusionPay_Final_Presentation.pptx.pptx</dc:title>
</cp:coreProperties>
</file>